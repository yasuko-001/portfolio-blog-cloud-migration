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323" r:id="rId3"/>
    <p:sldId id="285" r:id="rId4"/>
    <p:sldId id="319" r:id="rId5"/>
    <p:sldId id="277" r:id="rId6"/>
    <p:sldId id="324" r:id="rId7"/>
    <p:sldId id="289" r:id="rId8"/>
    <p:sldId id="325" r:id="rId9"/>
    <p:sldId id="298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43" autoAdjust="0"/>
    <p:restoredTop sz="94578"/>
  </p:normalViewPr>
  <p:slideViewPr>
    <p:cSldViewPr snapToGrid="0" snapToObjects="1">
      <p:cViewPr varScale="1">
        <p:scale>
          <a:sx n="110" d="100"/>
          <a:sy n="110" d="100"/>
        </p:scale>
        <p:origin x="31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46991-899E-5B4D-A58E-4FABD51273B2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33428-CE8D-7941-AE55-D4672B0448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06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33428-CE8D-7941-AE55-D4672B0448F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062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33428-CE8D-7941-AE55-D4672B0448F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130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A3358-D67F-FCB2-FF08-FBF105DB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FA7B43-B870-316C-BB0C-06F7B0B1A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A2419B-F80C-F054-E38F-82F08B784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6D4C4D-5BA0-D16B-EF9F-91A986CC3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33428-CE8D-7941-AE55-D4672B0448F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AE33D80-3B11-AD45-B145-3B401B30DE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760CD6E-40F1-004F-8D75-C2EB8F64F8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616" y="2574963"/>
            <a:ext cx="7310769" cy="162000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554"/>
              </a:spcAft>
              <a:buNone/>
              <a:defRPr sz="3323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kumimoji="1" lang="ja-JP" altLang="en-US"/>
              <a:t>本資料のタイトルを</a:t>
            </a:r>
            <a:endParaRPr kumimoji="1" lang="en-US" altLang="ja-JP" dirty="0"/>
          </a:p>
          <a:p>
            <a:pPr lvl="0"/>
            <a:r>
              <a:rPr kumimoji="1" lang="ja-JP" altLang="en-US"/>
              <a:t>記入する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6547" y="1722121"/>
            <a:ext cx="7310769" cy="720000"/>
          </a:xfrm>
          <a:noFill/>
        </p:spPr>
        <p:txBody>
          <a:bodyPr wrap="square" lIns="36000" tIns="36000" rIns="36000" bIns="3600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2215" b="1" spc="46" baseline="0">
                <a:solidFill>
                  <a:schemeClr val="bg2"/>
                </a:solidFill>
                <a:latin typeface="+mn-lt"/>
              </a:defRPr>
            </a:lvl1pPr>
            <a:lvl2pPr marL="422037" indent="0" algn="ctr">
              <a:buNone/>
              <a:defRPr sz="1846"/>
            </a:lvl2pPr>
            <a:lvl3pPr marL="844073" indent="0" algn="ctr">
              <a:buNone/>
              <a:defRPr sz="1662"/>
            </a:lvl3pPr>
            <a:lvl4pPr marL="1266110" indent="0" algn="ctr">
              <a:buNone/>
              <a:defRPr sz="1477"/>
            </a:lvl4pPr>
            <a:lvl5pPr marL="1688145" indent="0" algn="ctr">
              <a:buNone/>
              <a:defRPr sz="1477"/>
            </a:lvl5pPr>
            <a:lvl6pPr marL="2110183" indent="0" algn="ctr">
              <a:buNone/>
              <a:defRPr sz="1477"/>
            </a:lvl6pPr>
            <a:lvl7pPr marL="2532219" indent="0" algn="ctr">
              <a:buNone/>
              <a:defRPr sz="1477"/>
            </a:lvl7pPr>
            <a:lvl8pPr marL="2954255" indent="0" algn="ctr">
              <a:buNone/>
              <a:defRPr sz="1477"/>
            </a:lvl8pPr>
            <a:lvl9pPr marL="3376292" indent="0" algn="ctr">
              <a:buNone/>
              <a:defRPr sz="1477"/>
            </a:lvl9pPr>
          </a:lstStyle>
          <a:p>
            <a:r>
              <a:rPr lang="ja-JP" altLang="en-US"/>
              <a:t>サブタイトルを記入する</a:t>
            </a:r>
            <a:endParaRPr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A5C0F7CF-BDB0-D449-AD56-7FAEAEDBB2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868" y="4806481"/>
            <a:ext cx="7310769" cy="720000"/>
          </a:xfrm>
        </p:spPr>
        <p:txBody>
          <a:bodyPr anchor="ctr"/>
          <a:lstStyle>
            <a:lvl1pPr algn="l">
              <a:spcBef>
                <a:spcPts val="0"/>
              </a:spcBef>
              <a:spcAft>
                <a:spcPts val="554"/>
              </a:spcAft>
              <a:buFontTx/>
              <a:buNone/>
              <a:defRPr sz="2215" b="1">
                <a:solidFill>
                  <a:schemeClr val="bg2"/>
                </a:solidFill>
              </a:defRPr>
            </a:lvl1pPr>
            <a:lvl3pPr>
              <a:spcBef>
                <a:spcPts val="0"/>
              </a:spcBef>
              <a:spcAft>
                <a:spcPts val="554"/>
              </a:spcAft>
              <a:buFontTx/>
              <a:buNone/>
              <a:defRPr>
                <a:solidFill>
                  <a:schemeClr val="bg2"/>
                </a:solidFill>
              </a:defRPr>
            </a:lvl3pPr>
            <a:lvl4pPr>
              <a:spcBef>
                <a:spcPts val="0"/>
              </a:spcBef>
              <a:spcAft>
                <a:spcPts val="554"/>
              </a:spcAft>
              <a:buFontTx/>
              <a:buNone/>
              <a:defRPr>
                <a:solidFill>
                  <a:schemeClr val="bg2"/>
                </a:solidFill>
              </a:defRPr>
            </a:lvl4pPr>
            <a:lvl5pPr>
              <a:spcBef>
                <a:spcPts val="0"/>
              </a:spcBef>
              <a:spcAft>
                <a:spcPts val="554"/>
              </a:spcAft>
              <a:buFontTx/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kumimoji="1" lang="ja-JP" altLang="en-US"/>
              <a:t>自社の会社名を記入する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1399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0981807-3FCE-F84B-971A-28D3A78FA0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804" y="1135455"/>
            <a:ext cx="8307692" cy="576000"/>
          </a:xfrm>
        </p:spPr>
        <p:txBody>
          <a:bodyPr lIns="36000" tIns="36000" rIns="36000" bIns="360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292" b="0">
                <a:latin typeface="+mn-lt"/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kumimoji="1" lang="ja-JP" altLang="en-US"/>
              <a:t>説明文を</a:t>
            </a:r>
            <a:r>
              <a:rPr kumimoji="1" lang="en-US" altLang="ja-JP" dirty="0"/>
              <a:t>1〜2</a:t>
            </a:r>
            <a:r>
              <a:rPr kumimoji="1" lang="ja-JP" altLang="en-US"/>
              <a:t>行で簡潔に記載する。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C7BBDD3-92C9-C249-8E4E-A414219AA3B2}"/>
              </a:ext>
            </a:extLst>
          </p:cNvPr>
          <p:cNvCxnSpPr/>
          <p:nvPr/>
        </p:nvCxnSpPr>
        <p:spPr>
          <a:xfrm>
            <a:off x="0" y="1014130"/>
            <a:ext cx="914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74AC62-B060-524B-B591-20AF20CD232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34AF8C1-D6A9-FB41-8884-4263DC8853DE}"/>
              </a:ext>
            </a:extLst>
          </p:cNvPr>
          <p:cNvSpPr/>
          <p:nvPr userDrawn="1"/>
        </p:nvSpPr>
        <p:spPr>
          <a:xfrm>
            <a:off x="0" y="-498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C5A2B5-AD12-914D-B43A-AE2AB2FF90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21" y="61281"/>
            <a:ext cx="8307265" cy="257175"/>
          </a:xfrm>
        </p:spPr>
        <p:txBody>
          <a:bodyPr/>
          <a:lstStyle>
            <a:lvl1pPr algn="ctr">
              <a:buNone/>
              <a:defRPr sz="1108" b="1">
                <a:solidFill>
                  <a:schemeClr val="bg1"/>
                </a:solidFill>
              </a:defRPr>
            </a:lvl1pPr>
            <a:lvl2pPr algn="ctr">
              <a:buNone/>
              <a:defRPr sz="1108"/>
            </a:lvl2pPr>
            <a:lvl3pPr algn="ctr">
              <a:buNone/>
              <a:defRPr sz="1108"/>
            </a:lvl3pPr>
            <a:lvl4pPr algn="ctr">
              <a:buNone/>
              <a:defRPr sz="1015"/>
            </a:lvl4pPr>
            <a:lvl5pPr algn="ctr">
              <a:buNone/>
              <a:defRPr sz="1015"/>
            </a:lvl5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DA377900-38B0-AB4A-B601-5E3B9EEE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7850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/>
              <a:t>スライドのタイトルを記入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35EE21-358C-EC4E-942E-E03FFF05F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39A64-FD95-C144-B37D-DFADB2595A9F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D94E8C-E8B3-704B-9F0E-F6C6E540C7E1}"/>
              </a:ext>
            </a:extLst>
          </p:cNvPr>
          <p:cNvCxnSpPr/>
          <p:nvPr userDrawn="1"/>
        </p:nvCxnSpPr>
        <p:spPr>
          <a:xfrm>
            <a:off x="0" y="1014130"/>
            <a:ext cx="914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ABC3E2-8902-D64A-A9FD-428B7F92F316}"/>
              </a:ext>
            </a:extLst>
          </p:cNvPr>
          <p:cNvSpPr/>
          <p:nvPr userDrawn="1"/>
        </p:nvSpPr>
        <p:spPr>
          <a:xfrm>
            <a:off x="0" y="-498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C0189EB-D5DF-8D40-B9C1-2C71B1A72D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21" y="61281"/>
            <a:ext cx="8307265" cy="257175"/>
          </a:xfrm>
        </p:spPr>
        <p:txBody>
          <a:bodyPr/>
          <a:lstStyle>
            <a:lvl1pPr algn="ctr">
              <a:buNone/>
              <a:defRPr sz="1108" b="1">
                <a:solidFill>
                  <a:schemeClr val="bg1"/>
                </a:solidFill>
              </a:defRPr>
            </a:lvl1pPr>
            <a:lvl2pPr algn="ctr">
              <a:buNone/>
              <a:defRPr sz="1108"/>
            </a:lvl2pPr>
            <a:lvl3pPr algn="ctr">
              <a:buNone/>
              <a:defRPr sz="1108"/>
            </a:lvl3pPr>
            <a:lvl4pPr algn="ctr">
              <a:buNone/>
              <a:defRPr sz="1015"/>
            </a:lvl4pPr>
            <a:lvl5pPr algn="ctr">
              <a:buNone/>
              <a:defRPr sz="1015"/>
            </a:lvl5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394107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(目次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/>
              <a:t>スライドのタイトルを記入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35EE21-358C-EC4E-942E-E03FFF05F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39A64-FD95-C144-B37D-DFADB2595A9F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D94E8C-E8B3-704B-9F0E-F6C6E540C7E1}"/>
              </a:ext>
            </a:extLst>
          </p:cNvPr>
          <p:cNvCxnSpPr/>
          <p:nvPr userDrawn="1"/>
        </p:nvCxnSpPr>
        <p:spPr>
          <a:xfrm>
            <a:off x="0" y="1014130"/>
            <a:ext cx="914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07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（左寄せ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5221" y="511049"/>
            <a:ext cx="4984615" cy="360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err="1"/>
              <a:t>事例紹介（企業名を記入</a:t>
            </a:r>
            <a:r>
              <a:rPr lang="en-US" dirty="0"/>
              <a:t>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E19048-4703-A94C-9A0A-838099609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39A64-FD95-C144-B37D-DFADB2595A9F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8F7A97E-B200-EA48-8B5E-DFAFC50FDEA0}"/>
              </a:ext>
            </a:extLst>
          </p:cNvPr>
          <p:cNvCxnSpPr/>
          <p:nvPr userDrawn="1"/>
        </p:nvCxnSpPr>
        <p:spPr>
          <a:xfrm>
            <a:off x="0" y="1014130"/>
            <a:ext cx="9144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65A659B-C47D-A44C-940A-636813137B0C}"/>
              </a:ext>
            </a:extLst>
          </p:cNvPr>
          <p:cNvSpPr/>
          <p:nvPr userDrawn="1"/>
        </p:nvSpPr>
        <p:spPr>
          <a:xfrm>
            <a:off x="0" y="-4980"/>
            <a:ext cx="9144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0C8D7715-375A-2843-9BBF-E658FF210A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21" y="61281"/>
            <a:ext cx="8307265" cy="257175"/>
          </a:xfrm>
        </p:spPr>
        <p:txBody>
          <a:bodyPr/>
          <a:lstStyle>
            <a:lvl1pPr algn="ctr">
              <a:buNone/>
              <a:defRPr sz="1108" b="1">
                <a:solidFill>
                  <a:schemeClr val="bg1"/>
                </a:solidFill>
              </a:defRPr>
            </a:lvl1pPr>
            <a:lvl2pPr algn="ctr">
              <a:buNone/>
              <a:defRPr sz="1108"/>
            </a:lvl2pPr>
            <a:lvl3pPr algn="ctr">
              <a:buNone/>
              <a:defRPr sz="1108"/>
            </a:lvl3pPr>
            <a:lvl4pPr algn="ctr">
              <a:buNone/>
              <a:defRPr sz="1015"/>
            </a:lvl4pPr>
            <a:lvl5pPr algn="ctr">
              <a:buNone/>
              <a:defRPr sz="1015"/>
            </a:lvl5pPr>
          </a:lstStyle>
          <a:p>
            <a:pPr lvl="0"/>
            <a:r>
              <a:rPr kumimoji="1" lang="ja-JP" altLang="en-US"/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130823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34F6A8-F574-D741-ADC9-F4BEE2D15016}"/>
              </a:ext>
            </a:extLst>
          </p:cNvPr>
          <p:cNvSpPr/>
          <p:nvPr/>
        </p:nvSpPr>
        <p:spPr>
          <a:xfrm>
            <a:off x="0" y="6318000"/>
            <a:ext cx="9144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4804" y="532806"/>
            <a:ext cx="8307692" cy="360000"/>
          </a:xfrm>
          <a:prstGeom prst="rect">
            <a:avLst/>
          </a:prstGeom>
        </p:spPr>
        <p:txBody>
          <a:bodyPr vert="horz" wrap="square" lIns="36000" tIns="36000" rIns="36000" bIns="3600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804" y="1351440"/>
            <a:ext cx="8307692" cy="4320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9320" y="6444000"/>
            <a:ext cx="900000" cy="288000"/>
          </a:xfrm>
          <a:prstGeom prst="rect">
            <a:avLst/>
          </a:prstGeom>
        </p:spPr>
        <p:txBody>
          <a:bodyPr vert="horz" wrap="none" lIns="36000" tIns="36000" rIns="36000" bIns="36000" rtlCol="0" anchor="ctr">
            <a:normAutofit/>
          </a:bodyPr>
          <a:lstStyle>
            <a:lvl1pPr algn="r">
              <a:lnSpc>
                <a:spcPct val="100000"/>
              </a:lnSpc>
              <a:defRPr sz="1292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2CF39A64-FD95-C144-B37D-DFADB2595A9F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72D911-5E3C-6945-92A1-718E2930B82D}"/>
              </a:ext>
            </a:extLst>
          </p:cNvPr>
          <p:cNvSpPr txBox="1"/>
          <p:nvPr userDrawn="1"/>
        </p:nvSpPr>
        <p:spPr>
          <a:xfrm>
            <a:off x="1154320" y="6444000"/>
            <a:ext cx="6660000" cy="288000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1015" b="0" u="sng" dirty="0">
                <a:solidFill>
                  <a:srgbClr val="0070C0"/>
                </a:solidFill>
                <a:latin typeface="+mn-ea"/>
                <a:ea typeface="+mn-ea"/>
              </a:rPr>
              <a:t>https://</a:t>
            </a:r>
            <a:r>
              <a:rPr kumimoji="1" lang="en-US" altLang="ja-JP" sz="1015" b="0" u="sng" dirty="0" err="1">
                <a:solidFill>
                  <a:srgbClr val="0070C0"/>
                </a:solidFill>
                <a:latin typeface="+mn-ea"/>
                <a:ea typeface="+mn-ea"/>
              </a:rPr>
              <a:t>servicesiteurl</a:t>
            </a:r>
            <a:r>
              <a:rPr kumimoji="1" lang="en-US" altLang="ja-JP" sz="1015" b="0" u="sng" dirty="0">
                <a:solidFill>
                  <a:srgbClr val="0070C0"/>
                </a:solidFill>
                <a:latin typeface="+mn-ea"/>
                <a:ea typeface="+mn-ea"/>
              </a:rPr>
              <a:t>******</a:t>
            </a:r>
            <a:endParaRPr kumimoji="1" lang="ja-JP" altLang="en-US" sz="1015" b="0" u="sng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DFCF92A-A211-0D44-ADCE-58DB444C6866}"/>
              </a:ext>
            </a:extLst>
          </p:cNvPr>
          <p:cNvSpPr/>
          <p:nvPr userDrawn="1"/>
        </p:nvSpPr>
        <p:spPr>
          <a:xfrm>
            <a:off x="254320" y="6444000"/>
            <a:ext cx="900000" cy="28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3231" tIns="33231" rIns="33231" bIns="33231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ja-JP" sz="1108" b="1" dirty="0">
                <a:solidFill>
                  <a:schemeClr val="tx1"/>
                </a:solidFill>
                <a:latin typeface="+mn-ea"/>
                <a:ea typeface="+mn-ea"/>
              </a:rPr>
              <a:t>S A I R U</a:t>
            </a:r>
            <a:endParaRPr kumimoji="1" lang="ja-JP" altLang="en-US" sz="1108" b="1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111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8" r:id="rId2"/>
    <p:sldLayoutId id="2147483690" r:id="rId3"/>
    <p:sldLayoutId id="2147483693" r:id="rId4"/>
    <p:sldLayoutId id="2147483691" r:id="rId5"/>
  </p:sldLayoutIdLst>
  <p:hf hdr="0" ftr="0" dt="0"/>
  <p:txStyles>
    <p:titleStyle>
      <a:lvl1pPr algn="ctr" defTabSz="844073" rtl="0" eaLnBrk="1" latinLnBrk="0" hangingPunct="1">
        <a:lnSpc>
          <a:spcPct val="100000"/>
        </a:lnSpc>
        <a:spcBef>
          <a:spcPct val="0"/>
        </a:spcBef>
        <a:buNone/>
        <a:defRPr kumimoji="1" sz="1846" b="1" kern="120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132925" indent="-199388" algn="l" defTabSz="844073" rtl="0" eaLnBrk="1" latinLnBrk="0" hangingPunct="1">
        <a:lnSpc>
          <a:spcPct val="100000"/>
        </a:lnSpc>
        <a:spcBef>
          <a:spcPts val="923"/>
        </a:spcBef>
        <a:spcAft>
          <a:spcPts val="369"/>
        </a:spcAft>
        <a:buFont typeface="Wingdings" pitchFamily="2" charset="2"/>
        <a:buChar char="l"/>
        <a:defRPr kumimoji="1" sz="147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1182" indent="-152402" algn="l" defTabSz="844073" rtl="0" eaLnBrk="1" latinLnBrk="0" hangingPunct="1">
        <a:lnSpc>
          <a:spcPct val="100000"/>
        </a:lnSpc>
        <a:spcBef>
          <a:spcPts val="462"/>
        </a:spcBef>
        <a:spcAft>
          <a:spcPts val="369"/>
        </a:spcAft>
        <a:buFont typeface="Arial" panose="020B0604020202020204" pitchFamily="34" charset="0"/>
        <a:buChar char="•"/>
        <a:tabLst/>
        <a:defRPr kumimoji="1" sz="1292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275" indent="-123094" algn="l" defTabSz="844073" rtl="0" eaLnBrk="1" latinLnBrk="0" hangingPunct="1">
        <a:lnSpc>
          <a:spcPct val="100000"/>
        </a:lnSpc>
        <a:spcBef>
          <a:spcPts val="462"/>
        </a:spcBef>
        <a:spcAft>
          <a:spcPts val="369"/>
        </a:spcAft>
        <a:buFont typeface="Arial" panose="020B0604020202020204" pitchFamily="34" charset="0"/>
        <a:buChar char="•"/>
        <a:tabLst/>
        <a:defRPr kumimoji="1" sz="1292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16936" indent="-124559" algn="l" defTabSz="844073" rtl="0" eaLnBrk="1" latinLnBrk="0" hangingPunct="1">
        <a:lnSpc>
          <a:spcPct val="100000"/>
        </a:lnSpc>
        <a:spcBef>
          <a:spcPts val="462"/>
        </a:spcBef>
        <a:spcAft>
          <a:spcPts val="369"/>
        </a:spcAft>
        <a:buFont typeface="Arial" panose="020B0604020202020204" pitchFamily="34" charset="0"/>
        <a:buChar char="•"/>
        <a:tabLst/>
        <a:defRPr kumimoji="1" sz="1108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40031" indent="-123094" algn="l" defTabSz="844073" rtl="0" eaLnBrk="1" latinLnBrk="0" hangingPunct="1">
        <a:lnSpc>
          <a:spcPct val="100000"/>
        </a:lnSpc>
        <a:spcBef>
          <a:spcPts val="462"/>
        </a:spcBef>
        <a:spcAft>
          <a:spcPts val="369"/>
        </a:spcAft>
        <a:buFont typeface="Arial" panose="020B0604020202020204" pitchFamily="34" charset="0"/>
        <a:buChar char="•"/>
        <a:tabLst/>
        <a:defRPr kumimoji="1" sz="1108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321200" indent="-211018" algn="l" defTabSz="84407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7" indent="-211018" algn="l" defTabSz="84407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273" indent="-211018" algn="l" defTabSz="84407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10" indent="-211018" algn="l" defTabSz="84407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7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3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0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45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83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19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55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2" algn="l" defTabSz="84407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図 35">
            <a:extLst>
              <a:ext uri="{FF2B5EF4-FFF2-40B4-BE49-F238E27FC236}">
                <a16:creationId xmlns:a16="http://schemas.microsoft.com/office/drawing/2014/main" id="{635557A4-00E1-F14B-AE52-B3DFC72D66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5000"/>
          </a:blip>
          <a:srcRect t="2199" r="11116" b="5425"/>
          <a:stretch/>
        </p:blipFill>
        <p:spPr>
          <a:xfrm>
            <a:off x="0" y="263771"/>
            <a:ext cx="9144000" cy="6330462"/>
          </a:xfrm>
          <a:prstGeom prst="rect">
            <a:avLst/>
          </a:prstGeom>
        </p:spPr>
      </p:pic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B9D6340F-953E-FA4C-9765-13D8AB1C1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6616" y="2640659"/>
            <a:ext cx="7310769" cy="1495385"/>
          </a:xfrm>
        </p:spPr>
        <p:txBody>
          <a:bodyPr>
            <a:normAutofit/>
          </a:bodyPr>
          <a:lstStyle/>
          <a:p>
            <a:r>
              <a:rPr lang="ja-JP" altLang="en-US" dirty="0"/>
              <a:t>食べログ</a:t>
            </a:r>
            <a:r>
              <a:rPr lang="en-US" altLang="ja-JP" dirty="0"/>
              <a:t>‟NAGOYAMESHI”</a:t>
            </a:r>
            <a:r>
              <a:rPr lang="ja-JP" altLang="en-US" dirty="0"/>
              <a:t>における</a:t>
            </a:r>
            <a:endParaRPr lang="en-US" altLang="ja-JP" dirty="0"/>
          </a:p>
          <a:p>
            <a:r>
              <a:rPr lang="ja-JP" altLang="en-US" dirty="0"/>
              <a:t>クラウドサーバー移行のご提案</a:t>
            </a:r>
          </a:p>
        </p:txBody>
      </p:sp>
      <p:sp>
        <p:nvSpPr>
          <p:cNvPr id="28" name="テキスト プレースホルダー 27">
            <a:extLst>
              <a:ext uri="{FF2B5EF4-FFF2-40B4-BE49-F238E27FC236}">
                <a16:creationId xmlns:a16="http://schemas.microsoft.com/office/drawing/2014/main" id="{D225E1AE-848A-F442-B923-DD15972930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5868" y="4700521"/>
            <a:ext cx="7310769" cy="664615"/>
          </a:xfrm>
        </p:spPr>
        <p:txBody>
          <a:bodyPr/>
          <a:lstStyle/>
          <a:p>
            <a:pPr algn="r"/>
            <a:r>
              <a:rPr lang="ja-JP" altLang="en-US" dirty="0"/>
              <a:t>安ヵ川真弓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569BEB4-A100-4E4D-8D1D-CD7B255117C5}"/>
              </a:ext>
            </a:extLst>
          </p:cNvPr>
          <p:cNvCxnSpPr>
            <a:cxnSpLocks/>
          </p:cNvCxnSpPr>
          <p:nvPr/>
        </p:nvCxnSpPr>
        <p:spPr>
          <a:xfrm>
            <a:off x="2" y="4215702"/>
            <a:ext cx="822666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26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77377C-D717-40E4-A1D7-2ECF05E77F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貴社の課題を解決するために、以下のサービスをご提案します。</a:t>
            </a:r>
            <a:endParaRPr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591549-6B50-4FE7-8E11-464C8A15B99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3E288915-C8C5-744C-B005-5DF1B7BBB7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ご提案サマリー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6F3D53-D1E0-45F3-B4B9-8B186830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解決できる課題</a:t>
            </a:r>
            <a:endParaRPr lang="ja-JP" altLang="en-US" dirty="0"/>
          </a:p>
        </p:txBody>
      </p:sp>
      <p:sp>
        <p:nvSpPr>
          <p:cNvPr id="38" name="角丸四角形 5">
            <a:extLst>
              <a:ext uri="{FF2B5EF4-FFF2-40B4-BE49-F238E27FC236}">
                <a16:creationId xmlns:a16="http://schemas.microsoft.com/office/drawing/2014/main" id="{020E3B9A-E4B5-7244-A8A3-273EA7CC8D50}"/>
              </a:ext>
            </a:extLst>
          </p:cNvPr>
          <p:cNvSpPr/>
          <p:nvPr/>
        </p:nvSpPr>
        <p:spPr>
          <a:xfrm>
            <a:off x="4895757" y="1886555"/>
            <a:ext cx="3821538" cy="3821538"/>
          </a:xfrm>
          <a:prstGeom prst="roundRect">
            <a:avLst>
              <a:gd name="adj" fmla="val 1809"/>
            </a:avLst>
          </a:prstGeom>
          <a:solidFill>
            <a:schemeClr val="bg1"/>
          </a:solidFill>
          <a:ln w="9525" cap="flat" cmpd="sng" algn="ctr">
            <a:noFill/>
            <a:prstDash val="solid"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5864">
              <a:defRPr/>
            </a:pPr>
            <a:endParaRPr kumimoji="1" lang="ja-JP" altLang="en-US" sz="1477" kern="0" dirty="0">
              <a:solidFill>
                <a:srgbClr val="000000"/>
              </a:solidFill>
              <a:latin typeface="Yu Gothic" panose="020B0400000000000000" pitchFamily="34" charset="-128"/>
              <a:ea typeface="Yu Gothic" panose="020B0400000000000000" pitchFamily="34" charset="-128"/>
              <a:cs typeface="Meiryo UI" panose="020B0604030504040204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96FF7D4-DC82-134C-9729-97949E76494C}"/>
              </a:ext>
            </a:extLst>
          </p:cNvPr>
          <p:cNvSpPr txBox="1"/>
          <p:nvPr/>
        </p:nvSpPr>
        <p:spPr>
          <a:xfrm>
            <a:off x="5121230" y="2591948"/>
            <a:ext cx="3323077" cy="830769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Autofit/>
          </a:bodyPr>
          <a:lstStyle/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chemeClr val="accent6"/>
                </a:solidFill>
                <a:latin typeface="+mn-ea"/>
              </a:rPr>
              <a:t>クラウドサーバー移行による</a:t>
            </a:r>
            <a:endParaRPr kumimoji="1" lang="en-US" altLang="ja-JP" sz="1662" b="1" dirty="0">
              <a:solidFill>
                <a:schemeClr val="accent6"/>
              </a:solidFill>
              <a:latin typeface="+mn-ea"/>
            </a:endParaRPr>
          </a:p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chemeClr val="accent6"/>
                </a:solidFill>
                <a:latin typeface="+mn-ea"/>
              </a:rPr>
              <a:t>売上拡大（コスト削減）を実現</a:t>
            </a:r>
            <a:endParaRPr kumimoji="1" lang="en-US" altLang="ja-JP" sz="1662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40" name="フリーフォーム 39">
            <a:extLst>
              <a:ext uri="{FF2B5EF4-FFF2-40B4-BE49-F238E27FC236}">
                <a16:creationId xmlns:a16="http://schemas.microsoft.com/office/drawing/2014/main" id="{87A12D28-5834-4F4E-B4FC-F60911C6F5B6}"/>
              </a:ext>
            </a:extLst>
          </p:cNvPr>
          <p:cNvSpPr/>
          <p:nvPr/>
        </p:nvSpPr>
        <p:spPr>
          <a:xfrm>
            <a:off x="4890471" y="1886556"/>
            <a:ext cx="3821538" cy="492972"/>
          </a:xfrm>
          <a:custGeom>
            <a:avLst/>
            <a:gdLst>
              <a:gd name="connsiteX0" fmla="*/ 74893 w 4140000"/>
              <a:gd name="connsiteY0" fmla="*/ 0 h 534053"/>
              <a:gd name="connsiteX1" fmla="*/ 4065107 w 4140000"/>
              <a:gd name="connsiteY1" fmla="*/ 0 h 534053"/>
              <a:gd name="connsiteX2" fmla="*/ 4140000 w 4140000"/>
              <a:gd name="connsiteY2" fmla="*/ 74893 h 534053"/>
              <a:gd name="connsiteX3" fmla="*/ 4140000 w 4140000"/>
              <a:gd name="connsiteY3" fmla="*/ 534053 h 534053"/>
              <a:gd name="connsiteX4" fmla="*/ 0 w 4140000"/>
              <a:gd name="connsiteY4" fmla="*/ 534053 h 534053"/>
              <a:gd name="connsiteX5" fmla="*/ 0 w 4140000"/>
              <a:gd name="connsiteY5" fmla="*/ 74893 h 534053"/>
              <a:gd name="connsiteX6" fmla="*/ 74893 w 4140000"/>
              <a:gd name="connsiteY6" fmla="*/ 0 h 53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0000" h="534053">
                <a:moveTo>
                  <a:pt x="74893" y="0"/>
                </a:moveTo>
                <a:lnTo>
                  <a:pt x="4065107" y="0"/>
                </a:lnTo>
                <a:cubicBezTo>
                  <a:pt x="4106469" y="0"/>
                  <a:pt x="4140000" y="33531"/>
                  <a:pt x="4140000" y="74893"/>
                </a:cubicBezTo>
                <a:lnTo>
                  <a:pt x="4140000" y="534053"/>
                </a:lnTo>
                <a:lnTo>
                  <a:pt x="0" y="534053"/>
                </a:lnTo>
                <a:lnTo>
                  <a:pt x="0" y="74893"/>
                </a:lnTo>
                <a:cubicBezTo>
                  <a:pt x="0" y="33531"/>
                  <a:pt x="33531" y="0"/>
                  <a:pt x="74893" y="0"/>
                </a:cubicBezTo>
                <a:close/>
              </a:path>
            </a:pathLst>
          </a:custGeom>
          <a:solidFill>
            <a:schemeClr val="accent6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6462" tIns="66462" rIns="66462" bIns="66462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25864">
              <a:defRPr/>
            </a:pPr>
            <a:r>
              <a:rPr kumimoji="1" lang="ja-JP" altLang="en-US" sz="1477" b="1" kern="0">
                <a:solidFill>
                  <a:schemeClr val="bg1"/>
                </a:solidFill>
                <a:latin typeface="+mn-ea"/>
              </a:rPr>
              <a:t>ご提案サービス</a:t>
            </a:r>
            <a:endParaRPr kumimoji="1" lang="ja-JP" altLang="en-US" sz="1477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671B4592-B1DE-5940-A669-279EB2E5F86A}"/>
              </a:ext>
            </a:extLst>
          </p:cNvPr>
          <p:cNvSpPr/>
          <p:nvPr/>
        </p:nvSpPr>
        <p:spPr>
          <a:xfrm>
            <a:off x="3781729" y="3658603"/>
            <a:ext cx="1114029" cy="721148"/>
          </a:xfrm>
          <a:prstGeom prst="rightArrow">
            <a:avLst>
              <a:gd name="adj1" fmla="val 50000"/>
              <a:gd name="adj2" fmla="val 5567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41" name="角丸四角形 5">
            <a:extLst>
              <a:ext uri="{FF2B5EF4-FFF2-40B4-BE49-F238E27FC236}">
                <a16:creationId xmlns:a16="http://schemas.microsoft.com/office/drawing/2014/main" id="{0D4C6529-F34A-D548-9E55-E3E243AD2ED6}"/>
              </a:ext>
            </a:extLst>
          </p:cNvPr>
          <p:cNvSpPr/>
          <p:nvPr/>
        </p:nvSpPr>
        <p:spPr>
          <a:xfrm>
            <a:off x="426705" y="1886555"/>
            <a:ext cx="3821538" cy="3821538"/>
          </a:xfrm>
          <a:prstGeom prst="roundRect">
            <a:avLst>
              <a:gd name="adj" fmla="val 1809"/>
            </a:avLst>
          </a:prstGeom>
          <a:solidFill>
            <a:schemeClr val="bg1"/>
          </a:solidFill>
          <a:ln w="9525" cap="flat" cmpd="sng" algn="ctr">
            <a:noFill/>
            <a:prstDash val="solid"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5864">
              <a:defRPr/>
            </a:pPr>
            <a:endParaRPr kumimoji="1" lang="ja-JP" altLang="en-US" sz="1477" kern="0" dirty="0">
              <a:solidFill>
                <a:srgbClr val="000000"/>
              </a:solidFill>
              <a:latin typeface="Yu Gothic" panose="020B0400000000000000" pitchFamily="34" charset="-128"/>
              <a:ea typeface="Yu Gothic" panose="020B0400000000000000" pitchFamily="34" charset="-128"/>
              <a:cs typeface="Meiryo UI" panose="020B0604030504040204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6DA7330-8B38-D748-80C2-D59601B01249}"/>
              </a:ext>
            </a:extLst>
          </p:cNvPr>
          <p:cNvSpPr txBox="1"/>
          <p:nvPr/>
        </p:nvSpPr>
        <p:spPr>
          <a:xfrm>
            <a:off x="675937" y="2591948"/>
            <a:ext cx="3323077" cy="830769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Autofit/>
          </a:bodyPr>
          <a:lstStyle/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rgbClr val="0F1C50"/>
                </a:solidFill>
                <a:latin typeface="+mn-ea"/>
              </a:rPr>
              <a:t>オンプレミス劣化による</a:t>
            </a:r>
            <a:endParaRPr kumimoji="1" lang="en-US" altLang="ja-JP" sz="1662" b="1" dirty="0">
              <a:solidFill>
                <a:srgbClr val="0F1C50"/>
              </a:solidFill>
              <a:latin typeface="+mn-ea"/>
            </a:endParaRPr>
          </a:p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rgbClr val="0F1C50"/>
                </a:solidFill>
                <a:latin typeface="+mn-ea"/>
              </a:rPr>
              <a:t>サーバーダウン対応が急務</a:t>
            </a:r>
            <a:endParaRPr kumimoji="1" lang="en-US" altLang="ja-JP" sz="1662" b="1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44" name="フリーフォーム 43">
            <a:extLst>
              <a:ext uri="{FF2B5EF4-FFF2-40B4-BE49-F238E27FC236}">
                <a16:creationId xmlns:a16="http://schemas.microsoft.com/office/drawing/2014/main" id="{7C8B165A-1925-054B-ACB5-6ACC9842E95D}"/>
              </a:ext>
            </a:extLst>
          </p:cNvPr>
          <p:cNvSpPr/>
          <p:nvPr/>
        </p:nvSpPr>
        <p:spPr>
          <a:xfrm>
            <a:off x="426705" y="1886556"/>
            <a:ext cx="3821538" cy="492972"/>
          </a:xfrm>
          <a:custGeom>
            <a:avLst/>
            <a:gdLst>
              <a:gd name="connsiteX0" fmla="*/ 74893 w 4140000"/>
              <a:gd name="connsiteY0" fmla="*/ 0 h 534053"/>
              <a:gd name="connsiteX1" fmla="*/ 4065107 w 4140000"/>
              <a:gd name="connsiteY1" fmla="*/ 0 h 534053"/>
              <a:gd name="connsiteX2" fmla="*/ 4140000 w 4140000"/>
              <a:gd name="connsiteY2" fmla="*/ 74893 h 534053"/>
              <a:gd name="connsiteX3" fmla="*/ 4140000 w 4140000"/>
              <a:gd name="connsiteY3" fmla="*/ 534053 h 534053"/>
              <a:gd name="connsiteX4" fmla="*/ 0 w 4140000"/>
              <a:gd name="connsiteY4" fmla="*/ 534053 h 534053"/>
              <a:gd name="connsiteX5" fmla="*/ 0 w 4140000"/>
              <a:gd name="connsiteY5" fmla="*/ 74893 h 534053"/>
              <a:gd name="connsiteX6" fmla="*/ 74893 w 4140000"/>
              <a:gd name="connsiteY6" fmla="*/ 0 h 53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0000" h="534053">
                <a:moveTo>
                  <a:pt x="74893" y="0"/>
                </a:moveTo>
                <a:lnTo>
                  <a:pt x="4065107" y="0"/>
                </a:lnTo>
                <a:cubicBezTo>
                  <a:pt x="4106469" y="0"/>
                  <a:pt x="4140000" y="33531"/>
                  <a:pt x="4140000" y="74893"/>
                </a:cubicBezTo>
                <a:lnTo>
                  <a:pt x="4140000" y="534053"/>
                </a:lnTo>
                <a:lnTo>
                  <a:pt x="0" y="534053"/>
                </a:lnTo>
                <a:lnTo>
                  <a:pt x="0" y="74893"/>
                </a:lnTo>
                <a:cubicBezTo>
                  <a:pt x="0" y="33531"/>
                  <a:pt x="33531" y="0"/>
                  <a:pt x="74893" y="0"/>
                </a:cubicBez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6462" tIns="66462" rIns="66462" bIns="66462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25864">
              <a:defRPr/>
            </a:pPr>
            <a:r>
              <a:rPr kumimoji="1" lang="ja-JP" altLang="en-US" sz="1477" b="1" kern="0" dirty="0">
                <a:solidFill>
                  <a:schemeClr val="bg1"/>
                </a:solidFill>
                <a:latin typeface="+mn-ea"/>
              </a:rPr>
              <a:t>課題認識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9F438B2-7135-D94E-B312-A0B3220D07A6}"/>
              </a:ext>
            </a:extLst>
          </p:cNvPr>
          <p:cNvSpPr txBox="1"/>
          <p:nvPr/>
        </p:nvSpPr>
        <p:spPr>
          <a:xfrm>
            <a:off x="1174399" y="3516886"/>
            <a:ext cx="2824615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メモリや</a:t>
            </a:r>
            <a:r>
              <a:rPr kumimoji="1" lang="en-US" altLang="ja-JP" sz="1292" dirty="0">
                <a:solidFill>
                  <a:srgbClr val="0F1C50"/>
                </a:solidFill>
                <a:latin typeface="+mn-ea"/>
              </a:rPr>
              <a:t>HDD</a:t>
            </a: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の故障の頻発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D5B355A-6279-5840-BA9C-F4EDDC7A1026}"/>
              </a:ext>
            </a:extLst>
          </p:cNvPr>
          <p:cNvSpPr txBox="1"/>
          <p:nvPr/>
        </p:nvSpPr>
        <p:spPr>
          <a:xfrm>
            <a:off x="1174399" y="4164572"/>
            <a:ext cx="2824615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パーツの保守切れの発生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9BBE962-49A8-0944-A262-D1B765F5D843}"/>
              </a:ext>
            </a:extLst>
          </p:cNvPr>
          <p:cNvSpPr txBox="1"/>
          <p:nvPr/>
        </p:nvSpPr>
        <p:spPr>
          <a:xfrm>
            <a:off x="1174399" y="4821621"/>
            <a:ext cx="2824615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アクセス集中によるサーバーダウン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pic>
        <p:nvPicPr>
          <p:cNvPr id="17" name="グラフィックス 16" descr="閉じる 単色塗りつぶし">
            <a:extLst>
              <a:ext uri="{FF2B5EF4-FFF2-40B4-BE49-F238E27FC236}">
                <a16:creationId xmlns:a16="http://schemas.microsoft.com/office/drawing/2014/main" id="{B7B7207F-99F8-E24A-A704-7ED2D945B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693" y="3645950"/>
            <a:ext cx="332308" cy="332308"/>
          </a:xfrm>
          <a:prstGeom prst="rect">
            <a:avLst/>
          </a:prstGeom>
        </p:spPr>
      </p:pic>
      <p:pic>
        <p:nvPicPr>
          <p:cNvPr id="55" name="グラフィックス 54" descr="閉じる 単色塗りつぶし">
            <a:extLst>
              <a:ext uri="{FF2B5EF4-FFF2-40B4-BE49-F238E27FC236}">
                <a16:creationId xmlns:a16="http://schemas.microsoft.com/office/drawing/2014/main" id="{5FF441E7-A434-114E-AA20-7E637C7BD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693" y="4292273"/>
            <a:ext cx="332308" cy="332308"/>
          </a:xfrm>
          <a:prstGeom prst="rect">
            <a:avLst/>
          </a:prstGeom>
        </p:spPr>
      </p:pic>
      <p:pic>
        <p:nvPicPr>
          <p:cNvPr id="56" name="グラフィックス 55" descr="閉じる 単色塗りつぶし">
            <a:extLst>
              <a:ext uri="{FF2B5EF4-FFF2-40B4-BE49-F238E27FC236}">
                <a16:creationId xmlns:a16="http://schemas.microsoft.com/office/drawing/2014/main" id="{AA9F85B3-6ABC-044C-A48D-9AD50579B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693" y="4958819"/>
            <a:ext cx="332308" cy="332308"/>
          </a:xfrm>
          <a:prstGeom prst="rect">
            <a:avLst/>
          </a:pr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449B645-18F7-6941-A3E9-07DB4DC80008}"/>
              </a:ext>
            </a:extLst>
          </p:cNvPr>
          <p:cNvSpPr txBox="1"/>
          <p:nvPr/>
        </p:nvSpPr>
        <p:spPr>
          <a:xfrm>
            <a:off x="5619692" y="3516886"/>
            <a:ext cx="2969327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lang="ja-JP" altLang="en-US" sz="1290" dirty="0"/>
              <a:t>ハードウェア更新の度にかかる手間とコストを削減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12B7791-0056-2243-844A-DF7E36EAEF5A}"/>
              </a:ext>
            </a:extLst>
          </p:cNvPr>
          <p:cNvSpPr txBox="1"/>
          <p:nvPr/>
        </p:nvSpPr>
        <p:spPr>
          <a:xfrm>
            <a:off x="5619692" y="4164572"/>
            <a:ext cx="2969327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lang="ja-JP" altLang="en-US" sz="1290" dirty="0"/>
              <a:t>負荷状況に応じた</a:t>
            </a: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柔軟なスケーリングにより機会損失回避を実現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F12FAA3-A4FD-174C-BFAB-5665B29B7CC7}"/>
              </a:ext>
            </a:extLst>
          </p:cNvPr>
          <p:cNvSpPr txBox="1"/>
          <p:nvPr/>
        </p:nvSpPr>
        <p:spPr>
          <a:xfrm>
            <a:off x="5619692" y="4821621"/>
            <a:ext cx="2824615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今後の事業拡大を見据えたサーバー増築を容易に実現。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pic>
        <p:nvPicPr>
          <p:cNvPr id="64" name="グラフィックス 63" descr="ハーベイ ボール 0% 単色塗りつぶし">
            <a:extLst>
              <a:ext uri="{FF2B5EF4-FFF2-40B4-BE49-F238E27FC236}">
                <a16:creationId xmlns:a16="http://schemas.microsoft.com/office/drawing/2014/main" id="{12B64875-EDA8-4A44-B812-1A73EC854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4987" y="3622379"/>
            <a:ext cx="398769" cy="398769"/>
          </a:xfrm>
          <a:prstGeom prst="rect">
            <a:avLst/>
          </a:prstGeom>
        </p:spPr>
      </p:pic>
      <p:pic>
        <p:nvPicPr>
          <p:cNvPr id="66" name="グラフィックス 65" descr="ハーベイ ボール 0% 単色塗りつぶし">
            <a:extLst>
              <a:ext uri="{FF2B5EF4-FFF2-40B4-BE49-F238E27FC236}">
                <a16:creationId xmlns:a16="http://schemas.microsoft.com/office/drawing/2014/main" id="{9EEBD490-F755-9449-ADB1-30E39EAB7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4987" y="4259044"/>
            <a:ext cx="398769" cy="398769"/>
          </a:xfrm>
          <a:prstGeom prst="rect">
            <a:avLst/>
          </a:prstGeom>
        </p:spPr>
      </p:pic>
      <p:pic>
        <p:nvPicPr>
          <p:cNvPr id="67" name="グラフィックス 66" descr="ハーベイ ボール 0% 単色塗りつぶし">
            <a:extLst>
              <a:ext uri="{FF2B5EF4-FFF2-40B4-BE49-F238E27FC236}">
                <a16:creationId xmlns:a16="http://schemas.microsoft.com/office/drawing/2014/main" id="{540474E7-3373-DF49-BDD0-347939271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4987" y="4921315"/>
            <a:ext cx="398769" cy="39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1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A4ECE7CB-EDF4-C74A-87B0-48139AD1CCB3}"/>
              </a:ext>
            </a:extLst>
          </p:cNvPr>
          <p:cNvSpPr/>
          <p:nvPr/>
        </p:nvSpPr>
        <p:spPr>
          <a:xfrm>
            <a:off x="435219" y="2182001"/>
            <a:ext cx="2658462" cy="1395692"/>
          </a:xfrm>
          <a:prstGeom prst="roundRect">
            <a:avLst>
              <a:gd name="adj" fmla="val 3917"/>
            </a:avLst>
          </a:prstGeom>
          <a:solidFill>
            <a:schemeClr val="bg1"/>
          </a:solidFill>
          <a:ln w="19050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65252CB3-E844-5A46-A0D8-632C12505245}"/>
              </a:ext>
            </a:extLst>
          </p:cNvPr>
          <p:cNvSpPr/>
          <p:nvPr/>
        </p:nvSpPr>
        <p:spPr>
          <a:xfrm>
            <a:off x="3257764" y="2182001"/>
            <a:ext cx="2658462" cy="1395692"/>
          </a:xfrm>
          <a:prstGeom prst="roundRect">
            <a:avLst>
              <a:gd name="adj" fmla="val 3917"/>
            </a:avLst>
          </a:prstGeom>
          <a:solidFill>
            <a:schemeClr val="bg1"/>
          </a:solidFill>
          <a:ln w="19050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57D539C9-763E-C14E-A147-64489F5E5A98}"/>
              </a:ext>
            </a:extLst>
          </p:cNvPr>
          <p:cNvSpPr/>
          <p:nvPr/>
        </p:nvSpPr>
        <p:spPr>
          <a:xfrm>
            <a:off x="6084024" y="2182001"/>
            <a:ext cx="2658462" cy="1395692"/>
          </a:xfrm>
          <a:prstGeom prst="roundRect">
            <a:avLst>
              <a:gd name="adj" fmla="val 3917"/>
            </a:avLst>
          </a:prstGeom>
          <a:solidFill>
            <a:schemeClr val="bg1"/>
          </a:solidFill>
          <a:ln w="19050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6ABC8F-AD6E-4985-BB88-194C2EBC9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オンプレミスサーバーは以下のようなリスクがあります。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293F77-2387-4723-AA1C-0989BCF1DD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55A07A-1CE2-A240-BAF3-5F03591787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取り組みのポイント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9E6A2F5-F616-45EF-B25D-6159AA15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クラウド化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C9EE64-D3CD-4C74-A48F-32D4FD93F6F2}"/>
              </a:ext>
            </a:extLst>
          </p:cNvPr>
          <p:cNvSpPr txBox="1"/>
          <p:nvPr/>
        </p:nvSpPr>
        <p:spPr>
          <a:xfrm>
            <a:off x="435219" y="3723692"/>
            <a:ext cx="2658462" cy="2120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9692" tIns="99692" rIns="99692" bIns="99692" rtlCol="0" anchor="ctr"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endParaRPr kumimoji="1" lang="en-US" altLang="ja-JP" sz="1108" dirty="0">
              <a:latin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C58F6CA-F2D9-4231-B47D-A9F84E97E3E8}"/>
              </a:ext>
            </a:extLst>
          </p:cNvPr>
          <p:cNvSpPr txBox="1"/>
          <p:nvPr/>
        </p:nvSpPr>
        <p:spPr>
          <a:xfrm>
            <a:off x="3257764" y="3723692"/>
            <a:ext cx="2658462" cy="2120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9692" tIns="99692" rIns="99692" bIns="99692" rtlCol="0" anchor="ctr"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endParaRPr kumimoji="1" lang="en-US" altLang="ja-JP" sz="1108" dirty="0">
              <a:latin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108D0D1-2DE9-40CF-A40B-3ACA358457F3}"/>
              </a:ext>
            </a:extLst>
          </p:cNvPr>
          <p:cNvSpPr txBox="1"/>
          <p:nvPr/>
        </p:nvSpPr>
        <p:spPr>
          <a:xfrm>
            <a:off x="6080309" y="3723692"/>
            <a:ext cx="2658462" cy="2120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9692" tIns="99692" rIns="99692" bIns="99692" rtlCol="0" anchor="ctr"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endParaRPr kumimoji="1" lang="en-US" altLang="ja-JP" sz="1108" dirty="0">
              <a:latin typeface="+mn-ea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9F6A28D5-1A7B-8142-BCA1-18BFFE0D5220}"/>
              </a:ext>
            </a:extLst>
          </p:cNvPr>
          <p:cNvSpPr/>
          <p:nvPr/>
        </p:nvSpPr>
        <p:spPr>
          <a:xfrm>
            <a:off x="604814" y="2001416"/>
            <a:ext cx="2322715" cy="3323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292" b="1" dirty="0"/>
              <a:t>リスク</a:t>
            </a:r>
            <a:r>
              <a:rPr kumimoji="1" lang="en-US" altLang="ja-JP" sz="1292" b="1" dirty="0"/>
              <a:t>1</a:t>
            </a:r>
            <a:endParaRPr kumimoji="1" lang="ja-JP" altLang="en-US" sz="1292" b="1" dirty="0"/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909E3884-7E62-D94B-916C-D02B055B70B4}"/>
              </a:ext>
            </a:extLst>
          </p:cNvPr>
          <p:cNvSpPr/>
          <p:nvPr/>
        </p:nvSpPr>
        <p:spPr>
          <a:xfrm>
            <a:off x="3410644" y="1989572"/>
            <a:ext cx="2322715" cy="3323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292" b="1" dirty="0"/>
              <a:t>リスク</a:t>
            </a:r>
            <a:r>
              <a:rPr kumimoji="1" lang="en-US" altLang="ja-JP" sz="1292" b="1" dirty="0"/>
              <a:t>2</a:t>
            </a:r>
            <a:endParaRPr kumimoji="1" lang="ja-JP" altLang="en-US" sz="1292" b="1" dirty="0"/>
          </a:p>
        </p:txBody>
      </p: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D1D406A1-3EB1-5B44-8474-01211920EB96}"/>
              </a:ext>
            </a:extLst>
          </p:cNvPr>
          <p:cNvSpPr/>
          <p:nvPr/>
        </p:nvSpPr>
        <p:spPr>
          <a:xfrm>
            <a:off x="6263654" y="1989572"/>
            <a:ext cx="2322715" cy="3323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292" b="1"/>
              <a:t>よくある失敗</a:t>
            </a:r>
            <a:r>
              <a:rPr kumimoji="1" lang="en-US" altLang="ja-JP" sz="1292" b="1" dirty="0"/>
              <a:t> 3</a:t>
            </a:r>
            <a:endParaRPr kumimoji="1" lang="ja-JP" altLang="en-US" sz="1292" b="1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A7C1258-A11F-6B46-A906-D0EE94BEF236}"/>
              </a:ext>
            </a:extLst>
          </p:cNvPr>
          <p:cNvSpPr txBox="1"/>
          <p:nvPr/>
        </p:nvSpPr>
        <p:spPr>
          <a:xfrm>
            <a:off x="526472" y="3836224"/>
            <a:ext cx="2447235" cy="1894154"/>
          </a:xfrm>
          <a:prstGeom prst="rect">
            <a:avLst/>
          </a:prstGeom>
          <a:noFill/>
        </p:spPr>
        <p:txBody>
          <a:bodyPr wrap="square" lIns="33231" tIns="33231" rIns="33231" bIns="33231" rtlCol="0" anchor="t">
            <a:normAutofit fontScale="92500" lnSpcReduction="10000"/>
          </a:bodyPr>
          <a:lstStyle/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故障</a:t>
            </a:r>
            <a:r>
              <a:rPr kumimoji="1" lang="en-US" altLang="ja-JP" sz="1108" dirty="0">
                <a:latin typeface="+mn-ea"/>
              </a:rPr>
              <a:t>/</a:t>
            </a:r>
            <a:r>
              <a:rPr kumimoji="1" lang="ja-JP" altLang="en-US" sz="1108" dirty="0">
                <a:latin typeface="+mn-ea"/>
              </a:rPr>
              <a:t>劣化の度に新たなハードウェア購入費が毎回発生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ランニングコスト（不動産費、電力費、空調費、</a:t>
            </a:r>
            <a:r>
              <a:rPr kumimoji="1" lang="en-US" altLang="ja-JP" sz="1108" dirty="0">
                <a:latin typeface="+mn-ea"/>
              </a:rPr>
              <a:t>24</a:t>
            </a:r>
            <a:r>
              <a:rPr kumimoji="1" lang="ja-JP" altLang="en-US" sz="1108" dirty="0">
                <a:latin typeface="+mn-ea"/>
              </a:rPr>
              <a:t>時間体制の人件費）が永遠に続く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数年先までの正確なピーク予測が難しく、最大見積もりによる過剰リソースに無駄なコストがかかる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endParaRPr kumimoji="1" lang="en-US" altLang="ja-JP" sz="1108" dirty="0">
              <a:latin typeface="+mn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8A2817-7428-324A-AAE5-0148D5CB4D3C}"/>
              </a:ext>
            </a:extLst>
          </p:cNvPr>
          <p:cNvSpPr txBox="1"/>
          <p:nvPr/>
        </p:nvSpPr>
        <p:spPr>
          <a:xfrm>
            <a:off x="3479437" y="3836224"/>
            <a:ext cx="2302526" cy="1894154"/>
          </a:xfrm>
          <a:prstGeom prst="rect">
            <a:avLst/>
          </a:prstGeom>
          <a:noFill/>
        </p:spPr>
        <p:txBody>
          <a:bodyPr wrap="square" lIns="33231" tIns="33231" rIns="33231" bIns="33231" rtlCol="0" anchor="t">
            <a:normAutofit fontScale="92500"/>
          </a:bodyPr>
          <a:lstStyle/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複数拠点設置が高コスト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単一拠点は自然災害・人為的災害によるデータ破損・紛失リスクが高い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災害に備えたバックアップ対応の手間がかかる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ハードウェア障害発生時、</a:t>
            </a:r>
            <a:r>
              <a:rPr lang="ja-JP" altLang="en-US" sz="1110" dirty="0"/>
              <a:t>部品手配から復旧まで自社で対応する必要があり、負担が大きい</a:t>
            </a:r>
            <a:endParaRPr kumimoji="1" lang="en-US" altLang="ja-JP" sz="1110" dirty="0">
              <a:latin typeface="+mn-ea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B7C4A72-3771-0B4A-A675-26DA66D0CE33}"/>
              </a:ext>
            </a:extLst>
          </p:cNvPr>
          <p:cNvSpPr txBox="1"/>
          <p:nvPr/>
        </p:nvSpPr>
        <p:spPr>
          <a:xfrm>
            <a:off x="6268747" y="3836224"/>
            <a:ext cx="2247177" cy="1894154"/>
          </a:xfrm>
          <a:prstGeom prst="rect">
            <a:avLst/>
          </a:prstGeom>
          <a:noFill/>
        </p:spPr>
        <p:txBody>
          <a:bodyPr wrap="square" lIns="33231" tIns="33231" rIns="33231" bIns="33231" rtlCol="0" anchor="t">
            <a:normAutofit/>
          </a:bodyPr>
          <a:lstStyle/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インフラ設計やソフトウェア選定をゼロから検討する必要があり、スケールアップ</a:t>
            </a:r>
            <a:r>
              <a:rPr kumimoji="1" lang="en-US" altLang="ja-JP" sz="1108" dirty="0">
                <a:latin typeface="+mn-ea"/>
              </a:rPr>
              <a:t>/</a:t>
            </a:r>
            <a:r>
              <a:rPr kumimoji="1" lang="ja-JP" altLang="en-US" sz="1108" dirty="0">
                <a:latin typeface="+mn-ea"/>
              </a:rPr>
              <a:t>ダウンが最短で実現できない</a:t>
            </a:r>
            <a:endParaRPr kumimoji="1" lang="en-US" altLang="ja-JP" sz="1108" dirty="0">
              <a:latin typeface="+mn-ea"/>
            </a:endParaRPr>
          </a:p>
          <a:p>
            <a:pPr marL="166157" indent="-166157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l"/>
            </a:pPr>
            <a:r>
              <a:rPr kumimoji="1" lang="ja-JP" altLang="en-US" sz="1108" dirty="0">
                <a:latin typeface="+mn-ea"/>
              </a:rPr>
              <a:t>スモールスタートができない</a:t>
            </a:r>
            <a:endParaRPr kumimoji="1" lang="en-US" altLang="ja-JP" sz="1108" dirty="0">
              <a:latin typeface="+mn-ea"/>
            </a:endParaRPr>
          </a:p>
        </p:txBody>
      </p:sp>
      <p:pic>
        <p:nvPicPr>
          <p:cNvPr id="32" name="グラフィックス 31" descr="閉じる 単色塗りつぶし">
            <a:extLst>
              <a:ext uri="{FF2B5EF4-FFF2-40B4-BE49-F238E27FC236}">
                <a16:creationId xmlns:a16="http://schemas.microsoft.com/office/drawing/2014/main" id="{3A1397A7-E648-4245-9298-6E3D66F10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5990" y="2461794"/>
            <a:ext cx="996923" cy="996923"/>
          </a:xfrm>
          <a:prstGeom prst="rect">
            <a:avLst/>
          </a:prstGeom>
        </p:spPr>
      </p:pic>
      <p:pic>
        <p:nvPicPr>
          <p:cNvPr id="33" name="グラフィックス 32" descr="閉じる 単色塗りつぶし">
            <a:extLst>
              <a:ext uri="{FF2B5EF4-FFF2-40B4-BE49-F238E27FC236}">
                <a16:creationId xmlns:a16="http://schemas.microsoft.com/office/drawing/2014/main" id="{6EE29B8F-6875-A741-960A-5103893C4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8535" y="2461794"/>
            <a:ext cx="996923" cy="996923"/>
          </a:xfrm>
          <a:prstGeom prst="rect">
            <a:avLst/>
          </a:prstGeom>
        </p:spPr>
      </p:pic>
      <p:pic>
        <p:nvPicPr>
          <p:cNvPr id="34" name="グラフィックス 33" descr="閉じる 単色塗りつぶし">
            <a:extLst>
              <a:ext uri="{FF2B5EF4-FFF2-40B4-BE49-F238E27FC236}">
                <a16:creationId xmlns:a16="http://schemas.microsoft.com/office/drawing/2014/main" id="{C87DCFFB-D459-F640-A691-216164389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1080" y="2461794"/>
            <a:ext cx="996923" cy="996923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BCCEEAA-8BC7-A14B-BC16-0ACDB151AC93}"/>
              </a:ext>
            </a:extLst>
          </p:cNvPr>
          <p:cNvSpPr txBox="1"/>
          <p:nvPr/>
        </p:nvSpPr>
        <p:spPr>
          <a:xfrm>
            <a:off x="601373" y="2461794"/>
            <a:ext cx="2326154" cy="996923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algn="ctr">
              <a:spcAft>
                <a:spcPts val="554"/>
              </a:spcAft>
            </a:pPr>
            <a:r>
              <a:rPr kumimoji="1" lang="ja-JP" altLang="en-US" sz="1292" b="1" dirty="0"/>
              <a:t>高額コストが永遠に続く</a:t>
            </a:r>
            <a:endParaRPr kumimoji="1" lang="en-US" altLang="ja-JP" sz="1292" b="1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592FB6F-9113-6349-AE6A-CE277FA1EC64}"/>
              </a:ext>
            </a:extLst>
          </p:cNvPr>
          <p:cNvSpPr txBox="1"/>
          <p:nvPr/>
        </p:nvSpPr>
        <p:spPr>
          <a:xfrm>
            <a:off x="3423918" y="2461794"/>
            <a:ext cx="2326154" cy="996923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algn="ctr">
              <a:spcAft>
                <a:spcPts val="554"/>
              </a:spcAft>
            </a:pPr>
            <a:r>
              <a:rPr kumimoji="1" lang="ja-JP" altLang="en-US" sz="1292" b="1" dirty="0"/>
              <a:t>災害</a:t>
            </a:r>
            <a:r>
              <a:rPr kumimoji="1" lang="en-US" altLang="ja-JP" sz="1292" b="1" dirty="0"/>
              <a:t>/</a:t>
            </a:r>
            <a:r>
              <a:rPr kumimoji="1" lang="ja-JP" altLang="en-US" sz="1292" b="1" dirty="0"/>
              <a:t>障害リスクを考慮した</a:t>
            </a:r>
            <a:endParaRPr kumimoji="1" lang="en-US" altLang="ja-JP" sz="1292" b="1" dirty="0"/>
          </a:p>
          <a:p>
            <a:pPr algn="ctr">
              <a:spcAft>
                <a:spcPts val="554"/>
              </a:spcAft>
            </a:pPr>
            <a:r>
              <a:rPr kumimoji="1" lang="ja-JP" altLang="en-US" sz="1292" b="1" dirty="0"/>
              <a:t>設計が容易ではない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A7FB267-03F5-CD42-B2CC-22F6949E6BE1}"/>
              </a:ext>
            </a:extLst>
          </p:cNvPr>
          <p:cNvSpPr txBox="1"/>
          <p:nvPr/>
        </p:nvSpPr>
        <p:spPr>
          <a:xfrm>
            <a:off x="6260213" y="2461794"/>
            <a:ext cx="2326154" cy="996923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algn="ctr">
              <a:spcAft>
                <a:spcPts val="554"/>
              </a:spcAft>
            </a:pPr>
            <a:r>
              <a:rPr kumimoji="1" lang="ja-JP" altLang="en-US" sz="1292" b="1" dirty="0"/>
              <a:t>ビジネス成長</a:t>
            </a:r>
            <a:r>
              <a:rPr kumimoji="1" lang="en-US" altLang="ja-JP" sz="1292" b="1" dirty="0"/>
              <a:t>/</a:t>
            </a:r>
            <a:r>
              <a:rPr kumimoji="1" lang="ja-JP" altLang="en-US" sz="1292" b="1" dirty="0"/>
              <a:t>変化に迅速に</a:t>
            </a:r>
            <a:endParaRPr kumimoji="1" lang="en-US" altLang="ja-JP" sz="1292" b="1" dirty="0"/>
          </a:p>
          <a:p>
            <a:pPr algn="ctr">
              <a:spcAft>
                <a:spcPts val="554"/>
              </a:spcAft>
            </a:pPr>
            <a:r>
              <a:rPr kumimoji="1" lang="ja-JP" altLang="en-US" sz="1292" b="1" dirty="0"/>
              <a:t>対応ができず損失を招く</a:t>
            </a:r>
            <a:endParaRPr kumimoji="1" lang="en-US" altLang="ja-JP" sz="1292" b="1" dirty="0"/>
          </a:p>
        </p:txBody>
      </p:sp>
    </p:spTree>
    <p:extLst>
      <p:ext uri="{BB962C8B-B14F-4D97-AF65-F5344CB8AC3E}">
        <p14:creationId xmlns:p14="http://schemas.microsoft.com/office/powerpoint/2010/main" val="247985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E3BC682E-8F35-2847-A7D9-85010BF235C0}"/>
              </a:ext>
            </a:extLst>
          </p:cNvPr>
          <p:cNvSpPr/>
          <p:nvPr/>
        </p:nvSpPr>
        <p:spPr>
          <a:xfrm>
            <a:off x="0" y="2939302"/>
            <a:ext cx="9144000" cy="1595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10E145-1CCD-2949-94C6-1D484273E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コスト最適化とビジネス継続性を実現するには、以下</a:t>
            </a:r>
            <a:r>
              <a:rPr lang="en-US" altLang="ja-JP" dirty="0"/>
              <a:t>3</a:t>
            </a:r>
            <a:r>
              <a:rPr lang="ja-JP" altLang="en-US" dirty="0"/>
              <a:t>点を抑えることが重要です。</a:t>
            </a:r>
            <a:endParaRPr lang="en-US" altLang="ja-JP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C648F1-7761-444D-96D6-D0DEB7B0E37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00A2926-A84A-DC45-84CC-DA78DD4E55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取り組みのポイント</a:t>
            </a:r>
          </a:p>
        </p:txBody>
      </p:sp>
      <p:sp>
        <p:nvSpPr>
          <p:cNvPr id="26" name="タイトル 25">
            <a:extLst>
              <a:ext uri="{FF2B5EF4-FFF2-40B4-BE49-F238E27FC236}">
                <a16:creationId xmlns:a16="http://schemas.microsoft.com/office/drawing/2014/main" id="{6C614945-909D-F34D-9965-4BBEA8BD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成功のポイント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A1801E82-8922-1E47-8B57-DF26810C88F7}"/>
              </a:ext>
            </a:extLst>
          </p:cNvPr>
          <p:cNvSpPr>
            <a:spLocks noChangeAspect="1"/>
          </p:cNvSpPr>
          <p:nvPr/>
        </p:nvSpPr>
        <p:spPr>
          <a:xfrm>
            <a:off x="1276615" y="2219302"/>
            <a:ext cx="1163077" cy="1163077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77" b="1" dirty="0">
              <a:solidFill>
                <a:schemeClr val="accent3"/>
              </a:solidFill>
            </a:endParaRP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27E0C99B-AC03-604E-BBDC-05F696A9C1BA}"/>
              </a:ext>
            </a:extLst>
          </p:cNvPr>
          <p:cNvSpPr>
            <a:spLocks noChangeAspect="1"/>
          </p:cNvSpPr>
          <p:nvPr/>
        </p:nvSpPr>
        <p:spPr>
          <a:xfrm>
            <a:off x="4007313" y="2219302"/>
            <a:ext cx="1163077" cy="1163077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77" b="1" dirty="0">
              <a:solidFill>
                <a:schemeClr val="accent3"/>
              </a:solidFill>
            </a:endParaRP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877887B3-AFE5-F549-96EA-5E2D94BFF190}"/>
              </a:ext>
            </a:extLst>
          </p:cNvPr>
          <p:cNvSpPr>
            <a:spLocks noChangeAspect="1"/>
          </p:cNvSpPr>
          <p:nvPr/>
        </p:nvSpPr>
        <p:spPr>
          <a:xfrm>
            <a:off x="6703532" y="2219302"/>
            <a:ext cx="1163077" cy="1163077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77" b="1" dirty="0">
              <a:solidFill>
                <a:schemeClr val="accent3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DBE8E28-1E5E-844F-AA94-060DDBF0CF5D}"/>
              </a:ext>
            </a:extLst>
          </p:cNvPr>
          <p:cNvSpPr txBox="1"/>
          <p:nvPr/>
        </p:nvSpPr>
        <p:spPr>
          <a:xfrm>
            <a:off x="612000" y="3606688"/>
            <a:ext cx="2492308" cy="66461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algn="ctr">
              <a:spcAft>
                <a:spcPts val="554"/>
              </a:spcAft>
            </a:pPr>
            <a:r>
              <a:rPr kumimoji="1" lang="ja-JP" altLang="en-US" sz="1477" b="1" dirty="0"/>
              <a:t>ハードウェア保守</a:t>
            </a:r>
            <a:endParaRPr kumimoji="1" lang="en-US" altLang="ja-JP" sz="1477" b="1" dirty="0"/>
          </a:p>
          <a:p>
            <a:pPr algn="ctr">
              <a:spcAft>
                <a:spcPts val="554"/>
              </a:spcAft>
            </a:pPr>
            <a:r>
              <a:rPr kumimoji="1" lang="ja-JP" altLang="en-US" sz="1477" b="1" dirty="0"/>
              <a:t>からの解放</a:t>
            </a:r>
            <a:endParaRPr kumimoji="1" lang="en-US" altLang="ja-JP" sz="1477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681D18B-85C0-A44E-9696-A7647FD8F749}"/>
              </a:ext>
            </a:extLst>
          </p:cNvPr>
          <p:cNvSpPr txBox="1"/>
          <p:nvPr/>
        </p:nvSpPr>
        <p:spPr>
          <a:xfrm>
            <a:off x="3716308" y="3589575"/>
            <a:ext cx="2345669" cy="66461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fontAlgn="base"/>
            <a:r>
              <a:rPr lang="ja-JP" altLang="en-US" sz="1480" b="1" dirty="0"/>
              <a:t>柔軟なリソース管理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E371E7E-3EB2-2E4E-8B62-275300E30C5C}"/>
              </a:ext>
            </a:extLst>
          </p:cNvPr>
          <p:cNvSpPr txBox="1"/>
          <p:nvPr/>
        </p:nvSpPr>
        <p:spPr>
          <a:xfrm>
            <a:off x="6038917" y="3606688"/>
            <a:ext cx="2492308" cy="66461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rmAutofit/>
          </a:bodyPr>
          <a:lstStyle/>
          <a:p>
            <a:pPr algn="ctr">
              <a:spcAft>
                <a:spcPts val="554"/>
              </a:spcAft>
            </a:pPr>
            <a:r>
              <a:rPr kumimoji="1" lang="ja-JP" altLang="en-US" sz="1477" b="1" dirty="0"/>
              <a:t>フルマネージドサービス</a:t>
            </a:r>
            <a:endParaRPr kumimoji="1" lang="en-US" altLang="ja-JP" sz="1477" b="1" dirty="0"/>
          </a:p>
          <a:p>
            <a:pPr algn="ctr">
              <a:spcAft>
                <a:spcPts val="554"/>
              </a:spcAft>
            </a:pPr>
            <a:r>
              <a:rPr kumimoji="1" lang="ja-JP" altLang="en-US" sz="1477" b="1" dirty="0"/>
              <a:t>による短期導入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E166270-6822-0D41-9732-4A530168C9F6}"/>
              </a:ext>
            </a:extLst>
          </p:cNvPr>
          <p:cNvSpPr txBox="1"/>
          <p:nvPr/>
        </p:nvSpPr>
        <p:spPr>
          <a:xfrm>
            <a:off x="612000" y="4672842"/>
            <a:ext cx="2492308" cy="15581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 fontScale="62500" lnSpcReduction="20000"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ja-JP" altLang="en-US" b="1" dirty="0"/>
              <a:t>ハードウェアはすべて</a:t>
            </a:r>
            <a:r>
              <a:rPr lang="en-US" altLang="ja-JP" b="1" dirty="0"/>
              <a:t>AWS</a:t>
            </a:r>
            <a:r>
              <a:rPr lang="ja-JP" altLang="en-US" b="1" dirty="0"/>
              <a:t>が責任を持って管理する仕組みになっています。</a:t>
            </a:r>
            <a:br>
              <a:rPr lang="ja-JP" altLang="en-US" sz="1200" dirty="0"/>
            </a:br>
            <a:r>
              <a:rPr lang="ja-JP" altLang="en-US" dirty="0"/>
              <a:t>ハードウェアの運用はすべて</a:t>
            </a:r>
            <a:r>
              <a:rPr lang="en-US" altLang="ja-JP" dirty="0"/>
              <a:t>AWS</a:t>
            </a:r>
            <a:r>
              <a:rPr lang="ja-JP" altLang="en-US" dirty="0"/>
              <a:t>が行うので、利用者のサーバー保守は不要です。</a:t>
            </a:r>
            <a:endParaRPr kumimoji="1" lang="ja-JP" altLang="en-US" sz="1108" dirty="0">
              <a:latin typeface="+mn-ea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64FB354-B82F-3244-8AC0-769474073B28}"/>
              </a:ext>
            </a:extLst>
          </p:cNvPr>
          <p:cNvSpPr txBox="1"/>
          <p:nvPr/>
        </p:nvSpPr>
        <p:spPr>
          <a:xfrm>
            <a:off x="3342698" y="4635898"/>
            <a:ext cx="2492308" cy="159507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endParaRPr kumimoji="1" lang="ja-JP" altLang="en-US" sz="1100" dirty="0">
              <a:latin typeface="+mn-ea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DEC2D87-4013-8547-A36F-E369AF33E236}"/>
              </a:ext>
            </a:extLst>
          </p:cNvPr>
          <p:cNvSpPr txBox="1"/>
          <p:nvPr/>
        </p:nvSpPr>
        <p:spPr>
          <a:xfrm>
            <a:off x="6038916" y="4645132"/>
            <a:ext cx="2703569" cy="159507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ja-JP" altLang="en-US" sz="1100" b="1" dirty="0"/>
              <a:t>必要な</a:t>
            </a:r>
            <a:r>
              <a:rPr lang="en-US" altLang="ja-JP" sz="1100" b="1" dirty="0"/>
              <a:t>IT</a:t>
            </a:r>
            <a:r>
              <a:rPr lang="ja-JP" altLang="en-US" sz="1100" b="1" dirty="0"/>
              <a:t>リソースを数秒で準備できます。</a:t>
            </a:r>
            <a:endParaRPr lang="en-US" altLang="ja-JP" sz="1100" b="1" dirty="0"/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en-US" altLang="ja-JP" sz="1100" dirty="0"/>
              <a:t>AWS</a:t>
            </a:r>
            <a:r>
              <a:rPr lang="ja-JP" altLang="en-US" sz="1100" dirty="0"/>
              <a:t>フルマネージドサービスは、インフラ基盤の構築・運用管理の多くを</a:t>
            </a:r>
            <a:r>
              <a:rPr lang="en-US" altLang="ja-JP" sz="1100" dirty="0"/>
              <a:t>AWS</a:t>
            </a:r>
            <a:r>
              <a:rPr lang="ja-JP" altLang="en-US" sz="1100" dirty="0"/>
              <a:t>側が担うため、</a:t>
            </a:r>
            <a:r>
              <a:rPr lang="en-US" altLang="ja-JP" sz="1100" dirty="0"/>
              <a:t>”</a:t>
            </a:r>
            <a:r>
              <a:rPr lang="ja-JP" altLang="en-US" sz="1100" dirty="0"/>
              <a:t>システム開発への注力</a:t>
            </a:r>
            <a:r>
              <a:rPr lang="en-US" altLang="ja-JP" sz="1100" dirty="0"/>
              <a:t>”</a:t>
            </a:r>
            <a:r>
              <a:rPr lang="ja-JP" altLang="en-US" sz="1100" dirty="0"/>
              <a:t>とインフラの短期導入に大きく貢献します。</a:t>
            </a:r>
            <a:endParaRPr kumimoji="1" lang="ja-JP" altLang="en-US" sz="1100" dirty="0">
              <a:latin typeface="+mn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EF6D72-3430-2AB3-874B-0D5B9B59D09B}"/>
              </a:ext>
            </a:extLst>
          </p:cNvPr>
          <p:cNvSpPr txBox="1"/>
          <p:nvPr/>
        </p:nvSpPr>
        <p:spPr>
          <a:xfrm>
            <a:off x="3308218" y="4663603"/>
            <a:ext cx="2492308" cy="15581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 fontScale="62500" lnSpcReduction="20000"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ja-JP" altLang="en-US" b="1" dirty="0"/>
              <a:t>システムの負荷に応じた柔軟に増減が可能です。</a:t>
            </a:r>
            <a:endParaRPr lang="en-US" altLang="ja-JP" b="1" dirty="0"/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lang="ja-JP" altLang="en-US" dirty="0"/>
              <a:t>従量課金制を採用しており、コスト最適化ができます。また離れた場所で冗長化されたシステムが稼働し続けるため、事業の継続性が確保されます。 </a:t>
            </a:r>
            <a:endParaRPr kumimoji="1" lang="ja-JP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575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A0D7AB-0D0B-A14F-B907-A42874ADA0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804" y="1280297"/>
            <a:ext cx="8307692" cy="576000"/>
          </a:xfrm>
        </p:spPr>
        <p:txBody>
          <a:bodyPr/>
          <a:lstStyle/>
          <a:p>
            <a:r>
              <a:rPr lang="en-US" altLang="ja-JP" dirty="0"/>
              <a:t>AWS</a:t>
            </a:r>
            <a:r>
              <a:rPr lang="ja-JP" altLang="en-US" dirty="0"/>
              <a:t>によるクラウド化は、安定的な運用により貴社サービスへの信頼に繋がります。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F318A6-C684-4B48-BD69-06C5E310BA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BB93094-EB43-EE49-B26B-F68C8EFE5E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解決策のご提案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7C9CCA-44AD-6C4A-A393-A9C939B3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ご提案サーバー</a:t>
            </a:r>
          </a:p>
        </p:txBody>
      </p:sp>
      <p:sp>
        <p:nvSpPr>
          <p:cNvPr id="53" name="角丸四角形 52">
            <a:extLst>
              <a:ext uri="{FF2B5EF4-FFF2-40B4-BE49-F238E27FC236}">
                <a16:creationId xmlns:a16="http://schemas.microsoft.com/office/drawing/2014/main" id="{735D33B0-9C84-CA42-A363-8F194384F494}"/>
              </a:ext>
            </a:extLst>
          </p:cNvPr>
          <p:cNvSpPr/>
          <p:nvPr/>
        </p:nvSpPr>
        <p:spPr>
          <a:xfrm>
            <a:off x="721166" y="1954104"/>
            <a:ext cx="7821944" cy="4063519"/>
          </a:xfrm>
          <a:prstGeom prst="roundRect">
            <a:avLst>
              <a:gd name="adj" fmla="val 2224"/>
            </a:avLst>
          </a:prstGeom>
          <a:solidFill>
            <a:schemeClr val="bg1"/>
          </a:solidFill>
          <a:ln w="19050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/>
          </a:p>
        </p:txBody>
      </p:sp>
      <p:sp>
        <p:nvSpPr>
          <p:cNvPr id="55" name="角丸四角形 54">
            <a:extLst>
              <a:ext uri="{FF2B5EF4-FFF2-40B4-BE49-F238E27FC236}">
                <a16:creationId xmlns:a16="http://schemas.microsoft.com/office/drawing/2014/main" id="{C1450CED-B440-AA4D-8861-A3EC01A42828}"/>
              </a:ext>
            </a:extLst>
          </p:cNvPr>
          <p:cNvSpPr/>
          <p:nvPr/>
        </p:nvSpPr>
        <p:spPr>
          <a:xfrm>
            <a:off x="817393" y="1758489"/>
            <a:ext cx="2658462" cy="3323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292" b="1" dirty="0"/>
              <a:t>サーバー構成図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1A4ECFE-DBA3-511B-8ADA-1425B2D0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47" y="2137830"/>
            <a:ext cx="6984273" cy="3849501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E83E0033-B603-7923-D788-D48094925D0B}"/>
              </a:ext>
            </a:extLst>
          </p:cNvPr>
          <p:cNvSpPr txBox="1">
            <a:spLocks/>
          </p:cNvSpPr>
          <p:nvPr/>
        </p:nvSpPr>
        <p:spPr>
          <a:xfrm>
            <a:off x="600890" y="6012000"/>
            <a:ext cx="8307692" cy="576000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132925" indent="-199388" algn="ctr" defTabSz="84407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69"/>
              </a:spcAft>
              <a:buFont typeface="Wingdings" pitchFamily="2" charset="2"/>
              <a:buNone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1182" indent="-152402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4275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6936" indent="-124559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0031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0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37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273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1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※</a:t>
            </a:r>
            <a:r>
              <a:rPr lang="ja-JP" altLang="en-US" dirty="0"/>
              <a:t>最小コスト設計です。冗長化には</a:t>
            </a:r>
            <a:r>
              <a:rPr lang="en-US" altLang="ja-JP" dirty="0"/>
              <a:t>NAT</a:t>
            </a:r>
            <a:r>
              <a:rPr lang="ja-JP" altLang="en-US" dirty="0"/>
              <a:t>ゲートウェイ</a:t>
            </a:r>
            <a:r>
              <a:rPr lang="en-US" altLang="ja-JP" dirty="0"/>
              <a:t>/RDS</a:t>
            </a:r>
            <a:r>
              <a:rPr lang="ja-JP" altLang="en-US" dirty="0"/>
              <a:t>のマルチ</a:t>
            </a:r>
            <a:r>
              <a:rPr lang="en-US" altLang="ja-JP" dirty="0"/>
              <a:t>AZ</a:t>
            </a:r>
            <a:r>
              <a:rPr lang="ja-JP" altLang="en-US" dirty="0"/>
              <a:t>配置がおすすめです。</a:t>
            </a:r>
          </a:p>
        </p:txBody>
      </p:sp>
    </p:spTree>
    <p:extLst>
      <p:ext uri="{BB962C8B-B14F-4D97-AF65-F5344CB8AC3E}">
        <p14:creationId xmlns:p14="http://schemas.microsoft.com/office/powerpoint/2010/main" val="113545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CBB0-0F20-AB18-449C-D371B975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E1B9F7-D955-C507-1FE7-6B00B03C0E0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82605B6F-AAF8-9E77-CF08-32E51E3987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解決策のご提案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9F22EF8-E825-51FE-16B7-C7039F3A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課題解決ポイント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6EC9583-EE02-66CE-08CE-EE834F89F755}"/>
              </a:ext>
            </a:extLst>
          </p:cNvPr>
          <p:cNvGrpSpPr/>
          <p:nvPr/>
        </p:nvGrpSpPr>
        <p:grpSpPr>
          <a:xfrm>
            <a:off x="186643" y="1107155"/>
            <a:ext cx="8824330" cy="5119473"/>
            <a:chOff x="721166" y="1758489"/>
            <a:chExt cx="7821944" cy="4259134"/>
          </a:xfrm>
        </p:grpSpPr>
        <p:sp>
          <p:nvSpPr>
            <p:cNvPr id="53" name="角丸四角形 52">
              <a:extLst>
                <a:ext uri="{FF2B5EF4-FFF2-40B4-BE49-F238E27FC236}">
                  <a16:creationId xmlns:a16="http://schemas.microsoft.com/office/drawing/2014/main" id="{C7CF4BA0-0BD5-E126-20C9-3588DD05FA54}"/>
                </a:ext>
              </a:extLst>
            </p:cNvPr>
            <p:cNvSpPr/>
            <p:nvPr/>
          </p:nvSpPr>
          <p:spPr>
            <a:xfrm>
              <a:off x="721166" y="1954104"/>
              <a:ext cx="7821944" cy="4063519"/>
            </a:xfrm>
            <a:prstGeom prst="roundRect">
              <a:avLst>
                <a:gd name="adj" fmla="val 2224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127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/>
            </a:p>
          </p:txBody>
        </p:sp>
        <p:sp>
          <p:nvSpPr>
            <p:cNvPr id="55" name="角丸四角形 54">
              <a:extLst>
                <a:ext uri="{FF2B5EF4-FFF2-40B4-BE49-F238E27FC236}">
                  <a16:creationId xmlns:a16="http://schemas.microsoft.com/office/drawing/2014/main" id="{E6671C8F-18BA-DA41-CD8C-985804EDD355}"/>
                </a:ext>
              </a:extLst>
            </p:cNvPr>
            <p:cNvSpPr/>
            <p:nvPr/>
          </p:nvSpPr>
          <p:spPr>
            <a:xfrm>
              <a:off x="817394" y="1758489"/>
              <a:ext cx="1952488" cy="33230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231" tIns="33231" rIns="33231" bIns="33231" rtlCol="0" anchor="ctr">
              <a:noAutofit/>
            </a:bodyPr>
            <a:lstStyle/>
            <a:p>
              <a:pPr algn="ctr"/>
              <a:r>
                <a:rPr kumimoji="1" lang="ja-JP" altLang="en-US" sz="1292" b="1" dirty="0"/>
                <a:t>サーバー構成図</a:t>
              </a:r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0A4F6B6-6C86-47B7-2CA3-2DE15A52F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447" y="2137830"/>
              <a:ext cx="6984273" cy="3849501"/>
            </a:xfrm>
            <a:prstGeom prst="rect">
              <a:avLst/>
            </a:prstGeom>
          </p:spPr>
        </p:pic>
      </p:grpSp>
      <p:sp>
        <p:nvSpPr>
          <p:cNvPr id="10" name="角丸四角形 11">
            <a:extLst>
              <a:ext uri="{FF2B5EF4-FFF2-40B4-BE49-F238E27FC236}">
                <a16:creationId xmlns:a16="http://schemas.microsoft.com/office/drawing/2014/main" id="{F1522B37-ECE7-E1AF-8A61-49040E82D7CE}"/>
              </a:ext>
            </a:extLst>
          </p:cNvPr>
          <p:cNvSpPr/>
          <p:nvPr/>
        </p:nvSpPr>
        <p:spPr>
          <a:xfrm>
            <a:off x="4123942" y="1812878"/>
            <a:ext cx="1812587" cy="27463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000" b="1" spc="185" dirty="0"/>
              <a:t>複数拠点による障害対策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EB0DAD8-162A-AFB8-DD10-2E28EFCA92D9}"/>
              </a:ext>
            </a:extLst>
          </p:cNvPr>
          <p:cNvCxnSpPr/>
          <p:nvPr/>
        </p:nvCxnSpPr>
        <p:spPr>
          <a:xfrm flipH="1">
            <a:off x="5468983" y="2087513"/>
            <a:ext cx="243840" cy="525058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角丸四角形 11">
            <a:extLst>
              <a:ext uri="{FF2B5EF4-FFF2-40B4-BE49-F238E27FC236}">
                <a16:creationId xmlns:a16="http://schemas.microsoft.com/office/drawing/2014/main" id="{9722B9A4-7080-A714-30DC-2A58CBAF1006}"/>
              </a:ext>
            </a:extLst>
          </p:cNvPr>
          <p:cNvSpPr/>
          <p:nvPr/>
        </p:nvSpPr>
        <p:spPr>
          <a:xfrm>
            <a:off x="3152503" y="4001548"/>
            <a:ext cx="1096513" cy="27463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000" b="1" spc="185" dirty="0"/>
              <a:t>負荷分散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007DFAF-46DD-69A8-9033-5EAAAE1581BF}"/>
              </a:ext>
            </a:extLst>
          </p:cNvPr>
          <p:cNvCxnSpPr>
            <a:cxnSpLocks/>
          </p:cNvCxnSpPr>
          <p:nvPr/>
        </p:nvCxnSpPr>
        <p:spPr>
          <a:xfrm flipH="1">
            <a:off x="3396343" y="3784456"/>
            <a:ext cx="158515" cy="21709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角丸四角形 11">
            <a:extLst>
              <a:ext uri="{FF2B5EF4-FFF2-40B4-BE49-F238E27FC236}">
                <a16:creationId xmlns:a16="http://schemas.microsoft.com/office/drawing/2014/main" id="{2BC029ED-6AA1-0EB1-FBA7-551835D4719C}"/>
              </a:ext>
            </a:extLst>
          </p:cNvPr>
          <p:cNvSpPr/>
          <p:nvPr/>
        </p:nvSpPr>
        <p:spPr>
          <a:xfrm>
            <a:off x="536785" y="1896476"/>
            <a:ext cx="1812587" cy="27463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000" b="1" spc="185" dirty="0"/>
              <a:t>物理リソース管理不要</a:t>
            </a:r>
          </a:p>
        </p:txBody>
      </p:sp>
      <p:sp>
        <p:nvSpPr>
          <p:cNvPr id="17" name="角丸四角形 11">
            <a:extLst>
              <a:ext uri="{FF2B5EF4-FFF2-40B4-BE49-F238E27FC236}">
                <a16:creationId xmlns:a16="http://schemas.microsoft.com/office/drawing/2014/main" id="{5AE436C9-D302-702F-B025-F2372B8AFD95}"/>
              </a:ext>
            </a:extLst>
          </p:cNvPr>
          <p:cNvSpPr/>
          <p:nvPr/>
        </p:nvSpPr>
        <p:spPr>
          <a:xfrm>
            <a:off x="5936528" y="2806841"/>
            <a:ext cx="1812587" cy="27463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1000" b="1" spc="185" dirty="0"/>
              <a:t>自動スケーラブル設計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8F53CDE-A186-ACE6-31D7-C1D836F03520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432529" y="2944159"/>
            <a:ext cx="503999" cy="10037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角丸四角形 11">
            <a:extLst>
              <a:ext uri="{FF2B5EF4-FFF2-40B4-BE49-F238E27FC236}">
                <a16:creationId xmlns:a16="http://schemas.microsoft.com/office/drawing/2014/main" id="{BD416D86-2873-DCB3-8305-D6FF828242A0}"/>
              </a:ext>
            </a:extLst>
          </p:cNvPr>
          <p:cNvSpPr/>
          <p:nvPr/>
        </p:nvSpPr>
        <p:spPr>
          <a:xfrm>
            <a:off x="7937400" y="4860116"/>
            <a:ext cx="1073572" cy="27463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ja-JP" altLang="en-US" sz="800" b="1" spc="185" dirty="0"/>
              <a:t>カスタマイズ</a:t>
            </a:r>
            <a:endParaRPr kumimoji="1" lang="en-US" altLang="ja-JP" sz="800" b="1" spc="185" dirty="0"/>
          </a:p>
          <a:p>
            <a:pPr algn="ctr"/>
            <a:r>
              <a:rPr kumimoji="1" lang="ja-JP" altLang="en-US" sz="800" b="1" spc="185" dirty="0"/>
              <a:t>通知</a:t>
            </a:r>
          </a:p>
        </p:txBody>
      </p:sp>
      <p:sp>
        <p:nvSpPr>
          <p:cNvPr id="26" name="角丸四角形 11">
            <a:extLst>
              <a:ext uri="{FF2B5EF4-FFF2-40B4-BE49-F238E27FC236}">
                <a16:creationId xmlns:a16="http://schemas.microsoft.com/office/drawing/2014/main" id="{AB035F92-3027-9811-EA3F-E583F351D0AC}"/>
              </a:ext>
            </a:extLst>
          </p:cNvPr>
          <p:cNvSpPr/>
          <p:nvPr/>
        </p:nvSpPr>
        <p:spPr>
          <a:xfrm>
            <a:off x="7885748" y="4251359"/>
            <a:ext cx="1073572" cy="27463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231" tIns="33231" rIns="33231" bIns="33231" rtlCol="0" anchor="ctr">
            <a:noAutofit/>
          </a:bodyPr>
          <a:lstStyle/>
          <a:p>
            <a:pPr algn="ctr"/>
            <a:r>
              <a:rPr kumimoji="1" lang="en-US" altLang="ja-JP" sz="800" b="1" spc="185" dirty="0"/>
              <a:t>24</a:t>
            </a:r>
            <a:r>
              <a:rPr kumimoji="1" lang="ja-JP" altLang="en-US" sz="800" b="1" spc="185" dirty="0"/>
              <a:t>時間自動監視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3C8C1B-18F9-40A2-F74E-B226039DDEC1}"/>
              </a:ext>
            </a:extLst>
          </p:cNvPr>
          <p:cNvSpPr txBox="1">
            <a:spLocks/>
          </p:cNvSpPr>
          <p:nvPr/>
        </p:nvSpPr>
        <p:spPr>
          <a:xfrm>
            <a:off x="876389" y="6257492"/>
            <a:ext cx="8307692" cy="576000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132925" indent="-199388" algn="ctr" defTabSz="84407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69"/>
              </a:spcAft>
              <a:buFont typeface="Wingdings" pitchFamily="2" charset="2"/>
              <a:buNone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1182" indent="-152402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4275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6936" indent="-124559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0031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0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37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273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1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※</a:t>
            </a:r>
            <a:r>
              <a:rPr lang="ja-JP" altLang="en-US" dirty="0"/>
              <a:t>最小コスト設計です。冗長化には</a:t>
            </a:r>
            <a:r>
              <a:rPr lang="en-US" altLang="ja-JP" dirty="0"/>
              <a:t>NAT</a:t>
            </a:r>
            <a:r>
              <a:rPr lang="ja-JP" altLang="en-US" dirty="0"/>
              <a:t>ゲートウェイ</a:t>
            </a:r>
            <a:r>
              <a:rPr lang="en-US" altLang="ja-JP" dirty="0"/>
              <a:t>/RDS</a:t>
            </a:r>
            <a:r>
              <a:rPr lang="ja-JP" altLang="en-US" dirty="0"/>
              <a:t>のマルチ</a:t>
            </a:r>
            <a:r>
              <a:rPr lang="en-US" altLang="ja-JP" dirty="0"/>
              <a:t>AZ</a:t>
            </a:r>
            <a:r>
              <a:rPr lang="ja-JP" altLang="en-US" dirty="0"/>
              <a:t>配置がおすすめです。</a:t>
            </a:r>
          </a:p>
        </p:txBody>
      </p:sp>
    </p:spTree>
    <p:extLst>
      <p:ext uri="{BB962C8B-B14F-4D97-AF65-F5344CB8AC3E}">
        <p14:creationId xmlns:p14="http://schemas.microsoft.com/office/powerpoint/2010/main" val="216480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1816DB-0042-4956-B70A-6A3DE28F00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804" y="1061567"/>
            <a:ext cx="8307692" cy="576000"/>
          </a:xfrm>
        </p:spPr>
        <p:txBody>
          <a:bodyPr/>
          <a:lstStyle/>
          <a:p>
            <a:r>
              <a:rPr lang="ja-JP" altLang="en-US" dirty="0"/>
              <a:t>具体的な実施事項（機能）は以下のとおりです。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82E54B-CC85-4CBC-B183-4B388186C76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4C49A0B-5EDF-244B-971D-0EDB6C621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解決策のご提案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868E28C-7B85-4ADD-9E24-160968A6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実施事項（機能）一覧</a:t>
            </a: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266D7541-8A77-4D66-B78C-476E50EE3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70443"/>
              </p:ext>
            </p:extLst>
          </p:nvPr>
        </p:nvGraphicFramePr>
        <p:xfrm>
          <a:off x="628650" y="1299762"/>
          <a:ext cx="8113846" cy="49766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4472">
                  <a:extLst>
                    <a:ext uri="{9D8B030D-6E8A-4147-A177-3AD203B41FA5}">
                      <a16:colId xmlns:a16="http://schemas.microsoft.com/office/drawing/2014/main" val="1292565362"/>
                    </a:ext>
                  </a:extLst>
                </a:gridCol>
                <a:gridCol w="6619374">
                  <a:extLst>
                    <a:ext uri="{9D8B030D-6E8A-4147-A177-3AD203B41FA5}">
                      <a16:colId xmlns:a16="http://schemas.microsoft.com/office/drawing/2014/main" val="2313682660"/>
                    </a:ext>
                  </a:extLst>
                </a:gridCol>
              </a:tblGrid>
              <a:tr h="29081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+mn-lt"/>
                        </a:rPr>
                        <a:t>実施事項（機能）</a:t>
                      </a:r>
                    </a:p>
                  </a:txBody>
                  <a:tcPr marL="66462" marR="66462" marT="66462" marB="66462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+mn-lt"/>
                        </a:rPr>
                        <a:t>詳細説明</a:t>
                      </a:r>
                    </a:p>
                  </a:txBody>
                  <a:tcPr marL="66462" marR="66462" marT="66462" marB="6646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7704"/>
                  </a:ext>
                </a:extLst>
              </a:tr>
              <a:tr h="4832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WAF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1100" b="0" dirty="0">
                          <a:latin typeface="+mn-lt"/>
                        </a:rPr>
                        <a:t>国内の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IP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および特定の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IP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のみを許可し、通信は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HTTPS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限定の安全な保護された通信です。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アプリケーションへの攻撃もブロックします。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394804252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CloudFront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キャッシュによる低レイテンシー配信を可能にします。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1220193214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S3(</a:t>
                      </a:r>
                      <a:r>
                        <a:rPr kumimoji="1" lang="ja-JP" altLang="en-US" sz="1100" b="1" dirty="0">
                          <a:latin typeface="+mn-lt"/>
                        </a:rPr>
                        <a:t>エンドポイント</a:t>
                      </a:r>
                      <a:r>
                        <a:rPr kumimoji="1" lang="en-US" altLang="ja-JP" sz="1100" b="1" dirty="0">
                          <a:latin typeface="+mn-lt"/>
                        </a:rPr>
                        <a:t>)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インターネット上で公開するファイルの保管先です。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500196597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Route53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ドメイン管理機能です。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3375153507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ACM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100" b="0" dirty="0">
                          <a:latin typeface="+mn-lt"/>
                        </a:rPr>
                        <a:t>HTTPS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通信に必要な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SSL/TLS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証明書の管理機能です。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4167554866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 err="1">
                          <a:latin typeface="+mn-lt"/>
                        </a:rPr>
                        <a:t>InternetGateway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VPC (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仮想プライベートクラウド</a:t>
                      </a: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内のリソースとインターネット間の通信を可能にします。</a:t>
                      </a:r>
                      <a:endParaRPr kumimoji="1" lang="en-US" altLang="ja-JP" sz="8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877490031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Endpoint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VPC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内のリソースと</a:t>
                      </a: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S3(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エンドポイント</a:t>
                      </a: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の通信を可能にします。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163892914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ALB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ユーザーからの通信を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2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つの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AZ(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今回は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1a,1c)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に分散させ、障害時も継続したシステムを可能にします。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1903168931"/>
                  </a:ext>
                </a:extLst>
              </a:tr>
              <a:tr h="483285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 err="1">
                          <a:latin typeface="+mn-lt"/>
                        </a:rPr>
                        <a:t>NATGateway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外部アクセスから保護されたプライベートサブネットのインターネット通信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(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アウトバウンド通信のみ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)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を可能にします。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933158535"/>
                  </a:ext>
                </a:extLst>
              </a:tr>
              <a:tr h="6448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ECS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アプリサーバーを構築します。サーバーレスコンピューティングエンジン</a:t>
                      </a:r>
                      <a:r>
                        <a:rPr kumimoji="1" lang="en-US" altLang="ja-JP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Fargate</a:t>
                      </a: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を用いてコンテナ（アプリケーションパッケージ）のデプロイを実行します。</a:t>
                      </a:r>
                      <a:endParaRPr kumimoji="1" lang="en-US" altLang="ja-JP" sz="11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サーバー負荷に応じた自動スケーリングを行い、サーバーダウンを回避します。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3922501486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ECR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コンテナイメージを保管します。同じ仕様でスケーリングが可能になります。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3722379831"/>
                  </a:ext>
                </a:extLst>
              </a:tr>
              <a:tr h="3228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RDS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バックアップを保管するデータベースです。保管期間は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7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日間です。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3425170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59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4CB5-0421-109D-6CF4-4F38EA59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64852E-E78A-F5B3-ED42-FE850B61B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具体的な実施事項（機能）は以下のとおりです。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08DF887-4BDA-5713-4D34-C2B58882F4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CD92CF8-D159-6DB4-4A8C-C97D28737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解決策のご提案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A53E865-99B4-11CD-4265-AA5C9E4C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実施事項（機能）一覧</a:t>
            </a: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2FEDF938-4F7E-4AC2-22EB-4231ECF29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486451"/>
              </p:ext>
            </p:extLst>
          </p:nvPr>
        </p:nvGraphicFramePr>
        <p:xfrm>
          <a:off x="628650" y="1435813"/>
          <a:ext cx="7920000" cy="2309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1205">
                  <a:extLst>
                    <a:ext uri="{9D8B030D-6E8A-4147-A177-3AD203B41FA5}">
                      <a16:colId xmlns:a16="http://schemas.microsoft.com/office/drawing/2014/main" val="1292565362"/>
                    </a:ext>
                  </a:extLst>
                </a:gridCol>
                <a:gridCol w="6248795">
                  <a:extLst>
                    <a:ext uri="{9D8B030D-6E8A-4147-A177-3AD203B41FA5}">
                      <a16:colId xmlns:a16="http://schemas.microsoft.com/office/drawing/2014/main" val="2313682660"/>
                    </a:ext>
                  </a:extLst>
                </a:gridCol>
              </a:tblGrid>
              <a:tr h="30173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+mn-lt"/>
                        </a:rPr>
                        <a:t>実施事項（機能）</a:t>
                      </a:r>
                    </a:p>
                  </a:txBody>
                  <a:tcPr marL="66462" marR="66462" marT="66462" marB="66462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  <a:latin typeface="+mn-lt"/>
                        </a:rPr>
                        <a:t>詳細説明</a:t>
                      </a:r>
                    </a:p>
                  </a:txBody>
                  <a:tcPr marL="66462" marR="66462" marT="66462" marB="6646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7704"/>
                  </a:ext>
                </a:extLst>
              </a:tr>
              <a:tr h="334967">
                <a:tc>
                  <a:txBody>
                    <a:bodyPr/>
                    <a:lstStyle/>
                    <a:p>
                      <a:pPr marL="0" marR="0" lvl="0" indent="0" algn="ctr" defTabSz="8440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b="1" dirty="0">
                          <a:latin typeface="+mn-lt"/>
                        </a:rPr>
                        <a:t>EC2(</a:t>
                      </a:r>
                      <a:r>
                        <a:rPr kumimoji="1" lang="ja-JP" altLang="en-US" sz="1100" b="1" dirty="0">
                          <a:latin typeface="+mn-lt"/>
                        </a:rPr>
                        <a:t>運用サーバー</a:t>
                      </a:r>
                      <a:r>
                        <a:rPr kumimoji="1" lang="en-US" altLang="ja-JP" sz="1100" b="1" dirty="0">
                          <a:latin typeface="+mn-lt"/>
                        </a:rPr>
                        <a:t>)</a:t>
                      </a: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1100" b="0" dirty="0">
                          <a:latin typeface="+mn-lt"/>
                        </a:rPr>
                        <a:t>手動バックアップなどメンテナンス用のサーバーです。社内の保守管理者のみアクセス可能です。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1100" b="0" dirty="0">
                          <a:latin typeface="+mn-lt"/>
                        </a:rPr>
                        <a:t>操作ログやバックアップは連携の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CloudWatch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と</a:t>
                      </a:r>
                      <a:r>
                        <a:rPr kumimoji="1" lang="en-US" altLang="ja-JP" sz="1100" b="0" dirty="0">
                          <a:latin typeface="+mn-lt"/>
                        </a:rPr>
                        <a:t>S3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に記録されます。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1130847405"/>
                  </a:ext>
                </a:extLst>
              </a:tr>
              <a:tr h="3349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S3(</a:t>
                      </a:r>
                      <a:r>
                        <a:rPr kumimoji="1" lang="ja-JP" altLang="en-US" sz="1100" b="1" dirty="0">
                          <a:latin typeface="+mn-lt"/>
                        </a:rPr>
                        <a:t>運用サーバー</a:t>
                      </a:r>
                      <a:r>
                        <a:rPr kumimoji="1" lang="en-US" altLang="ja-JP" sz="1100" b="1" dirty="0">
                          <a:latin typeface="+mn-lt"/>
                        </a:rPr>
                        <a:t>)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1100" b="0" dirty="0">
                          <a:latin typeface="+mn-lt"/>
                        </a:rPr>
                        <a:t>運用サーバー用データの保管先です。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394804252"/>
                  </a:ext>
                </a:extLst>
              </a:tr>
              <a:tr h="3349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CloudWatch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アプリサーバーと運用サーバーの現在の状態やログをモニタリングします。アラート設定により異常を社内保守管理者へメールで通知することが可能になります。。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1220193214"/>
                  </a:ext>
                </a:extLst>
              </a:tr>
              <a:tr h="3349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SNS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ja-JP" sz="1100" b="0" dirty="0">
                          <a:latin typeface="+mn-lt"/>
                        </a:rPr>
                        <a:t>CloudWatch</a:t>
                      </a:r>
                      <a:r>
                        <a:rPr kumimoji="1" lang="ja-JP" altLang="en-US" sz="1100" b="0" dirty="0">
                          <a:latin typeface="+mn-lt"/>
                        </a:rPr>
                        <a:t>が検知したアラートを保守管理者にメール発信します。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2500196597"/>
                  </a:ext>
                </a:extLst>
              </a:tr>
              <a:tr h="3349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b="1" dirty="0">
                          <a:latin typeface="+mn-lt"/>
                        </a:rPr>
                        <a:t>SSM</a:t>
                      </a:r>
                      <a:endParaRPr kumimoji="1" lang="ja-JP" altLang="en-US" sz="1100" b="1" dirty="0">
                        <a:latin typeface="+mn-lt"/>
                      </a:endParaRPr>
                    </a:p>
                  </a:txBody>
                  <a:tcPr marL="66462" marR="66462" marT="66462" marB="9969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ja-JP" altLang="en-US" sz="1100" b="0" dirty="0">
                          <a:latin typeface="+mn-lt"/>
                        </a:rPr>
                        <a:t>運用サーバーへのアクセス権限を一元化し、安全な通信を可能にします。</a:t>
                      </a:r>
                      <a:endParaRPr kumimoji="1" lang="en-US" altLang="ja-JP" sz="1100" b="0" dirty="0">
                        <a:latin typeface="+mn-lt"/>
                      </a:endParaRPr>
                    </a:p>
                  </a:txBody>
                  <a:tcPr marL="66462" marR="66462" marT="66462" marB="99692" anchor="ctr"/>
                </a:tc>
                <a:extLst>
                  <a:ext uri="{0D108BD9-81ED-4DB2-BD59-A6C34878D82A}">
                    <a16:rowId xmlns:a16="http://schemas.microsoft.com/office/drawing/2014/main" val="3375153507"/>
                  </a:ext>
                </a:extLst>
              </a:tr>
            </a:tbl>
          </a:graphicData>
        </a:graphic>
      </p:graphicFrame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01D3635-80CA-4C45-1F6F-C0E6763EC76F}"/>
              </a:ext>
            </a:extLst>
          </p:cNvPr>
          <p:cNvSpPr txBox="1">
            <a:spLocks/>
          </p:cNvSpPr>
          <p:nvPr/>
        </p:nvSpPr>
        <p:spPr>
          <a:xfrm>
            <a:off x="589319" y="3915585"/>
            <a:ext cx="7920001" cy="576000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>
            <a:lvl1pPr marL="132925" indent="-199388" algn="ctr" defTabSz="84407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69"/>
              </a:spcAft>
              <a:buFont typeface="Wingdings" pitchFamily="2" charset="2"/>
              <a:buNone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1182" indent="-152402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4275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292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6936" indent="-124559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0031" indent="-123094" algn="ctr" defTabSz="844073" rtl="0" eaLnBrk="1" latinLnBrk="0" hangingPunct="1">
              <a:lnSpc>
                <a:spcPct val="100000"/>
              </a:lnSpc>
              <a:spcBef>
                <a:spcPts val="462"/>
              </a:spcBef>
              <a:spcAft>
                <a:spcPts val="369"/>
              </a:spcAft>
              <a:buFont typeface="Arial" panose="020B0604020202020204" pitchFamily="34" charset="0"/>
              <a:buNone/>
              <a:tabLst/>
              <a:defRPr kumimoji="1" sz="1108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0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37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273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10" indent="-211018" algn="l" defTabSz="844073" rtl="0" eaLnBrk="1" latinLnBrk="0" hangingPunct="1">
              <a:lnSpc>
                <a:spcPct val="90000"/>
              </a:lnSpc>
              <a:spcBef>
                <a:spcPts val="462"/>
              </a:spcBef>
              <a:buFont typeface="Arial" panose="020B0604020202020204" pitchFamily="34" charset="0"/>
              <a:buChar char="•"/>
              <a:defRPr kumimoji="1"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dirty="0"/>
              <a:t>一覧の仕様で本番用</a:t>
            </a:r>
            <a:r>
              <a:rPr lang="en-US" altLang="ja-JP" dirty="0"/>
              <a:t>/</a:t>
            </a:r>
            <a:r>
              <a:rPr lang="ja-JP" altLang="en-US" dirty="0"/>
              <a:t>検証用</a:t>
            </a:r>
            <a:r>
              <a:rPr lang="en-US" altLang="ja-JP" dirty="0"/>
              <a:t>Web</a:t>
            </a:r>
            <a:r>
              <a:rPr lang="ja-JP" altLang="en-US" dirty="0"/>
              <a:t>サイトを構築し、検証用</a:t>
            </a:r>
            <a:r>
              <a:rPr lang="en-US" altLang="ja-JP" dirty="0"/>
              <a:t>Web</a:t>
            </a:r>
            <a:r>
              <a:rPr lang="ja-JP" altLang="en-US" dirty="0"/>
              <a:t>サイトは社内アクセスのみ可能な状態です。</a:t>
            </a:r>
            <a:endParaRPr lang="en-US" altLang="ja-JP" dirty="0"/>
          </a:p>
          <a:p>
            <a:pPr algn="l"/>
            <a:r>
              <a:rPr lang="ja-JP" altLang="en-US" dirty="0"/>
              <a:t>本番用</a:t>
            </a:r>
            <a:r>
              <a:rPr lang="en-US" altLang="ja-JP" dirty="0"/>
              <a:t>Web</a:t>
            </a:r>
            <a:r>
              <a:rPr lang="ja-JP" altLang="en-US" dirty="0"/>
              <a:t>サイトへのデプロイはローリングアップデートを採用し、最小コスト設計です。</a:t>
            </a:r>
          </a:p>
        </p:txBody>
      </p:sp>
    </p:spTree>
    <p:extLst>
      <p:ext uri="{BB962C8B-B14F-4D97-AF65-F5344CB8AC3E}">
        <p14:creationId xmlns:p14="http://schemas.microsoft.com/office/powerpoint/2010/main" val="18854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F7430F-09F3-4B45-83D5-656272DB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お見積り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15F03C-E474-8545-8B25-1BFF076D2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2671E3B-B031-C640-A24C-20615C1DBF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お見積りと成果シュミレーション</a:t>
            </a:r>
          </a:p>
        </p:txBody>
      </p:sp>
      <p:graphicFrame>
        <p:nvGraphicFramePr>
          <p:cNvPr id="12" name="表 6">
            <a:extLst>
              <a:ext uri="{FF2B5EF4-FFF2-40B4-BE49-F238E27FC236}">
                <a16:creationId xmlns:a16="http://schemas.microsoft.com/office/drawing/2014/main" id="{4FC67483-5E69-49F7-A74F-F95FAA37D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15517"/>
              </p:ext>
            </p:extLst>
          </p:nvPr>
        </p:nvGraphicFramePr>
        <p:xfrm>
          <a:off x="435221" y="1534648"/>
          <a:ext cx="8229811" cy="152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8314">
                  <a:extLst>
                    <a:ext uri="{9D8B030D-6E8A-4147-A177-3AD203B41FA5}">
                      <a16:colId xmlns:a16="http://schemas.microsoft.com/office/drawing/2014/main" val="3266082266"/>
                    </a:ext>
                  </a:extLst>
                </a:gridCol>
                <a:gridCol w="2351497">
                  <a:extLst>
                    <a:ext uri="{9D8B030D-6E8A-4147-A177-3AD203B41FA5}">
                      <a16:colId xmlns:a16="http://schemas.microsoft.com/office/drawing/2014/main" val="2139472956"/>
                    </a:ext>
                  </a:extLst>
                </a:gridCol>
              </a:tblGrid>
              <a:tr h="35868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概要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お見積り額</a:t>
                      </a:r>
                      <a:r>
                        <a:rPr kumimoji="1" lang="en-US" altLang="ja-JP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(</a:t>
                      </a:r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年</a:t>
                      </a:r>
                      <a:r>
                        <a:rPr kumimoji="1" lang="en-US" altLang="ja-JP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)</a:t>
                      </a:r>
                      <a:endParaRPr kumimoji="1" lang="ja-JP" altLang="en-US" sz="1100" b="1" i="0" baseline="0" dirty="0">
                        <a:latin typeface="+mn-lt"/>
                        <a:ea typeface="Yu Gothic" panose="020B0400000000000000" pitchFamily="34" charset="-128"/>
                      </a:endParaRP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981442"/>
                  </a:ext>
                </a:extLst>
              </a:tr>
              <a:tr h="358682">
                <a:tc>
                  <a:txBody>
                    <a:bodyPr/>
                    <a:lstStyle/>
                    <a:p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＊＊＊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\</a:t>
                      </a:r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＊＊＊＊＊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19683"/>
                  </a:ext>
                </a:extLst>
              </a:tr>
              <a:tr h="358682">
                <a:tc>
                  <a:txBody>
                    <a:bodyPr/>
                    <a:lstStyle/>
                    <a:p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＊＊＊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\</a:t>
                      </a:r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＊＊＊＊＊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45047"/>
                  </a:ext>
                </a:extLst>
              </a:tr>
              <a:tr h="416924">
                <a:tc>
                  <a:txBody>
                    <a:bodyPr/>
                    <a:lstStyle/>
                    <a:p>
                      <a:r>
                        <a:rPr kumimoji="1" lang="ja-JP" altLang="en-US" sz="1100" b="1" i="0" baseline="0" dirty="0">
                          <a:latin typeface="+mn-lt"/>
                          <a:ea typeface="Yu Gothic" panose="020B0400000000000000" pitchFamily="34" charset="-128"/>
                        </a:rPr>
                        <a:t>合計（税別）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500" b="1" i="0" baseline="0" dirty="0">
                          <a:latin typeface="+mn-lt"/>
                          <a:ea typeface="Yu Gothic" panose="020B0400000000000000" pitchFamily="34" charset="-128"/>
                        </a:rPr>
                        <a:t>\</a:t>
                      </a:r>
                      <a:r>
                        <a:rPr kumimoji="1" lang="ja-JP" altLang="en-US" sz="1500" b="1" i="0" baseline="0" dirty="0">
                          <a:latin typeface="+mn-lt"/>
                          <a:ea typeface="Yu Gothic" panose="020B0400000000000000" pitchFamily="34" charset="-128"/>
                        </a:rPr>
                        <a:t>＊＊＊＊＊</a:t>
                      </a:r>
                    </a:p>
                  </a:txBody>
                  <a:tcPr marL="66462" marR="66462" marT="99692" marB="9969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0789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D1F0DF-0781-9D4F-A310-C4AC803D0E0D}"/>
              </a:ext>
            </a:extLst>
          </p:cNvPr>
          <p:cNvSpPr txBox="1"/>
          <p:nvPr/>
        </p:nvSpPr>
        <p:spPr>
          <a:xfrm>
            <a:off x="509107" y="4314807"/>
            <a:ext cx="8307266" cy="1262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33231" tIns="33231" rIns="33231" bIns="33231" rtlCol="0">
            <a:noAutofit/>
          </a:bodyPr>
          <a:lstStyle/>
          <a:p>
            <a:pPr>
              <a:spcAft>
                <a:spcPts val="400"/>
              </a:spcAft>
            </a:pPr>
            <a:endParaRPr kumimoji="1" lang="en-US" altLang="ja-JP" sz="1050" dirty="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CACA25-B177-9E43-8A8A-934D6331E941}"/>
              </a:ext>
            </a:extLst>
          </p:cNvPr>
          <p:cNvSpPr txBox="1"/>
          <p:nvPr/>
        </p:nvSpPr>
        <p:spPr>
          <a:xfrm>
            <a:off x="750462" y="4621350"/>
            <a:ext cx="7643077" cy="996923"/>
          </a:xfrm>
          <a:prstGeom prst="rect">
            <a:avLst/>
          </a:prstGeom>
          <a:noFill/>
          <a:ln>
            <a:noFill/>
          </a:ln>
        </p:spPr>
        <p:txBody>
          <a:bodyPr wrap="square" lIns="144000" tIns="108000" rIns="36000" bIns="1080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292" b="1" dirty="0"/>
              <a:t>留意事項</a:t>
            </a:r>
            <a:endParaRPr kumimoji="1" lang="en-US" altLang="ja-JP" sz="1292" b="1" dirty="0"/>
          </a:p>
          <a:p>
            <a:pPr>
              <a:spcAft>
                <a:spcPts val="400"/>
              </a:spcAft>
            </a:pPr>
            <a:r>
              <a:rPr kumimoji="1" lang="ja-JP" altLang="en-US" sz="1292" b="1" dirty="0"/>
              <a:t>詳細は見積明細をご確認ください。</a:t>
            </a:r>
            <a:endParaRPr kumimoji="1" lang="en-US" altLang="ja-JP" sz="1292" b="1" dirty="0"/>
          </a:p>
        </p:txBody>
      </p:sp>
      <p:pic>
        <p:nvPicPr>
          <p:cNvPr id="8" name="図 7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24922443-CBD2-DC35-256D-0CA6EBDAA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912" y="4367791"/>
            <a:ext cx="1170408" cy="115679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8A88DB-685B-D016-DD21-6A8559B90F86}"/>
              </a:ext>
            </a:extLst>
          </p:cNvPr>
          <p:cNvSpPr txBox="1"/>
          <p:nvPr/>
        </p:nvSpPr>
        <p:spPr>
          <a:xfrm>
            <a:off x="1550125" y="2523687"/>
            <a:ext cx="6843414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見積額のご提示シートです。</a:t>
            </a:r>
            <a:endParaRPr kumimoji="1" lang="en-US" altLang="ja-JP" dirty="0"/>
          </a:p>
          <a:p>
            <a:r>
              <a:rPr kumimoji="1" lang="ja-JP" altLang="en-US" dirty="0"/>
              <a:t>正確な見積もりは難しいためシートのみの作成としています。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032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B59830-833F-774A-B756-23543B8A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構成におけるより詳細な設定内容は以下の資料をご確認ください。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3A8160-C9FB-E54E-9F73-C2EE83A93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F39A64-FD95-C144-B37D-DFADB2595A9F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766BB2D-ED2C-414F-B47B-39C6794A33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ja-JP" dirty="0"/>
              <a:t>Appendix</a:t>
            </a:r>
            <a:endParaRPr lang="ja-JP" altLang="en-US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C2392524-7185-D4AF-0A97-0DCCC47D684C}"/>
              </a:ext>
            </a:extLst>
          </p:cNvPr>
          <p:cNvSpPr txBox="1">
            <a:spLocks/>
          </p:cNvSpPr>
          <p:nvPr/>
        </p:nvSpPr>
        <p:spPr>
          <a:xfrm>
            <a:off x="418154" y="1257860"/>
            <a:ext cx="8307692" cy="1707013"/>
          </a:xfrm>
          <a:prstGeom prst="rect">
            <a:avLst/>
          </a:prstGeom>
        </p:spPr>
        <p:txBody>
          <a:bodyPr vert="horz" wrap="square" lIns="36000" tIns="36000" rIns="36000" bIns="36000" rtlCol="0" anchor="ctr">
            <a:normAutofit/>
          </a:bodyPr>
          <a:lstStyle>
            <a:lvl1pPr algn="ctr" defTabSz="84407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1846" b="1" kern="120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ja-JP" altLang="en-US" dirty="0"/>
              <a:t>パラメーターシート</a:t>
            </a:r>
            <a:endParaRPr lang="en-US" altLang="ja-JP" dirty="0"/>
          </a:p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ja-JP" altLang="en-US" dirty="0"/>
              <a:t>運用テスト記録</a:t>
            </a:r>
            <a:endParaRPr lang="en-US" altLang="ja-JP" dirty="0"/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algn="l"/>
            <a:endParaRPr lang="ja-JP" altLang="en-US" dirty="0"/>
          </a:p>
        </p:txBody>
      </p:sp>
      <p:pic>
        <p:nvPicPr>
          <p:cNvPr id="9" name="図 8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D64E8FBE-C087-B05E-C113-A921A1532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57" y="2539197"/>
            <a:ext cx="3277057" cy="3238952"/>
          </a:xfrm>
          <a:prstGeom prst="rect">
            <a:avLst/>
          </a:prstGeom>
        </p:spPr>
      </p:pic>
      <p:sp>
        <p:nvSpPr>
          <p:cNvPr id="10" name="角丸四角形 5">
            <a:extLst>
              <a:ext uri="{FF2B5EF4-FFF2-40B4-BE49-F238E27FC236}">
                <a16:creationId xmlns:a16="http://schemas.microsoft.com/office/drawing/2014/main" id="{CDFCFCD8-22AC-4CFF-7731-7F5CFA615D86}"/>
              </a:ext>
            </a:extLst>
          </p:cNvPr>
          <p:cNvSpPr/>
          <p:nvPr/>
        </p:nvSpPr>
        <p:spPr>
          <a:xfrm>
            <a:off x="4895757" y="1886555"/>
            <a:ext cx="3821538" cy="3821538"/>
          </a:xfrm>
          <a:prstGeom prst="roundRect">
            <a:avLst>
              <a:gd name="adj" fmla="val 1809"/>
            </a:avLst>
          </a:prstGeom>
          <a:solidFill>
            <a:schemeClr val="bg1"/>
          </a:solidFill>
          <a:ln w="9525" cap="flat" cmpd="sng" algn="ctr">
            <a:noFill/>
            <a:prstDash val="solid"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25864">
              <a:defRPr/>
            </a:pPr>
            <a:endParaRPr kumimoji="1" lang="ja-JP" altLang="en-US" sz="1477" kern="0" dirty="0">
              <a:solidFill>
                <a:srgbClr val="000000"/>
              </a:solidFill>
              <a:latin typeface="Yu Gothic" panose="020B0400000000000000" pitchFamily="34" charset="-128"/>
              <a:ea typeface="Yu Gothic" panose="020B0400000000000000" pitchFamily="34" charset="-128"/>
              <a:cs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D7A4FF-ED11-B08E-482E-8EEDB72866D2}"/>
              </a:ext>
            </a:extLst>
          </p:cNvPr>
          <p:cNvSpPr txBox="1"/>
          <p:nvPr/>
        </p:nvSpPr>
        <p:spPr>
          <a:xfrm>
            <a:off x="5121230" y="2591948"/>
            <a:ext cx="3323077" cy="830769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Autofit/>
          </a:bodyPr>
          <a:lstStyle/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chemeClr val="accent6"/>
                </a:solidFill>
                <a:latin typeface="+mn-ea"/>
              </a:rPr>
              <a:t>クラウドサーバー移行による</a:t>
            </a:r>
            <a:endParaRPr kumimoji="1" lang="en-US" altLang="ja-JP" sz="1662" b="1" dirty="0">
              <a:solidFill>
                <a:schemeClr val="accent6"/>
              </a:solidFill>
              <a:latin typeface="+mn-ea"/>
            </a:endParaRPr>
          </a:p>
          <a:p>
            <a:pPr algn="ctr" defTabSz="925864">
              <a:spcAft>
                <a:spcPts val="400"/>
              </a:spcAft>
            </a:pPr>
            <a:r>
              <a:rPr kumimoji="1" lang="ja-JP" altLang="en-US" sz="1662" b="1" dirty="0">
                <a:solidFill>
                  <a:schemeClr val="accent6"/>
                </a:solidFill>
                <a:latin typeface="+mn-ea"/>
              </a:rPr>
              <a:t>売上拡大（コスト削減）を実現</a:t>
            </a:r>
            <a:endParaRPr kumimoji="1" lang="en-US" altLang="ja-JP" sz="1662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2" name="フリーフォーム 39">
            <a:extLst>
              <a:ext uri="{FF2B5EF4-FFF2-40B4-BE49-F238E27FC236}">
                <a16:creationId xmlns:a16="http://schemas.microsoft.com/office/drawing/2014/main" id="{F6A8E32C-4378-30FC-C936-0619ABE60AA7}"/>
              </a:ext>
            </a:extLst>
          </p:cNvPr>
          <p:cNvSpPr/>
          <p:nvPr/>
        </p:nvSpPr>
        <p:spPr>
          <a:xfrm>
            <a:off x="4871998" y="1886556"/>
            <a:ext cx="3870497" cy="492972"/>
          </a:xfrm>
          <a:custGeom>
            <a:avLst/>
            <a:gdLst>
              <a:gd name="connsiteX0" fmla="*/ 74893 w 4140000"/>
              <a:gd name="connsiteY0" fmla="*/ 0 h 534053"/>
              <a:gd name="connsiteX1" fmla="*/ 4065107 w 4140000"/>
              <a:gd name="connsiteY1" fmla="*/ 0 h 534053"/>
              <a:gd name="connsiteX2" fmla="*/ 4140000 w 4140000"/>
              <a:gd name="connsiteY2" fmla="*/ 74893 h 534053"/>
              <a:gd name="connsiteX3" fmla="*/ 4140000 w 4140000"/>
              <a:gd name="connsiteY3" fmla="*/ 534053 h 534053"/>
              <a:gd name="connsiteX4" fmla="*/ 0 w 4140000"/>
              <a:gd name="connsiteY4" fmla="*/ 534053 h 534053"/>
              <a:gd name="connsiteX5" fmla="*/ 0 w 4140000"/>
              <a:gd name="connsiteY5" fmla="*/ 74893 h 534053"/>
              <a:gd name="connsiteX6" fmla="*/ 74893 w 4140000"/>
              <a:gd name="connsiteY6" fmla="*/ 0 h 534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0000" h="534053">
                <a:moveTo>
                  <a:pt x="74893" y="0"/>
                </a:moveTo>
                <a:lnTo>
                  <a:pt x="4065107" y="0"/>
                </a:lnTo>
                <a:cubicBezTo>
                  <a:pt x="4106469" y="0"/>
                  <a:pt x="4140000" y="33531"/>
                  <a:pt x="4140000" y="74893"/>
                </a:cubicBezTo>
                <a:lnTo>
                  <a:pt x="4140000" y="534053"/>
                </a:lnTo>
                <a:lnTo>
                  <a:pt x="0" y="534053"/>
                </a:lnTo>
                <a:lnTo>
                  <a:pt x="0" y="74893"/>
                </a:lnTo>
                <a:cubicBezTo>
                  <a:pt x="0" y="33531"/>
                  <a:pt x="33531" y="0"/>
                  <a:pt x="74893" y="0"/>
                </a:cubicBezTo>
                <a:close/>
              </a:path>
            </a:pathLst>
          </a:custGeom>
          <a:solidFill>
            <a:schemeClr val="accent6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6462" tIns="66462" rIns="66462" bIns="66462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25864">
              <a:defRPr/>
            </a:pPr>
            <a:r>
              <a:rPr kumimoji="1" lang="ja-JP" altLang="en-US" sz="1477" b="1" kern="0" dirty="0">
                <a:solidFill>
                  <a:schemeClr val="bg1"/>
                </a:solidFill>
                <a:latin typeface="+mn-ea"/>
              </a:rPr>
              <a:t>ご検討ください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7E6DF3-5FDB-7470-B291-BC7BB28C5696}"/>
              </a:ext>
            </a:extLst>
          </p:cNvPr>
          <p:cNvSpPr txBox="1"/>
          <p:nvPr/>
        </p:nvSpPr>
        <p:spPr>
          <a:xfrm>
            <a:off x="5619692" y="3516886"/>
            <a:ext cx="2969327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lang="ja-JP" altLang="en-US" sz="1290" dirty="0"/>
              <a:t>ハードウェア更新の度にかかる手間とコストを削減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7CA7563-646B-2910-92E9-3D1C82DF45E8}"/>
              </a:ext>
            </a:extLst>
          </p:cNvPr>
          <p:cNvSpPr txBox="1"/>
          <p:nvPr/>
        </p:nvSpPr>
        <p:spPr>
          <a:xfrm>
            <a:off x="5619692" y="4164572"/>
            <a:ext cx="2969327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lang="ja-JP" altLang="en-US" sz="1290" dirty="0"/>
              <a:t>負荷状況に応じた</a:t>
            </a: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柔軟なスケーリングにより機会損失回避を実現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9BC87D-0E09-D569-CDD0-9147D4C5775F}"/>
              </a:ext>
            </a:extLst>
          </p:cNvPr>
          <p:cNvSpPr txBox="1"/>
          <p:nvPr/>
        </p:nvSpPr>
        <p:spPr>
          <a:xfrm>
            <a:off x="5619692" y="4821621"/>
            <a:ext cx="2824615" cy="598154"/>
          </a:xfrm>
          <a:prstGeom prst="rect">
            <a:avLst/>
          </a:prstGeom>
          <a:noFill/>
        </p:spPr>
        <p:txBody>
          <a:bodyPr wrap="square" lIns="33231" tIns="33231" rIns="33231" bIns="33231" rtlCol="0" anchor="ctr">
            <a:normAutofit/>
          </a:bodyPr>
          <a:lstStyle/>
          <a:p>
            <a:pPr defTabSz="925864">
              <a:spcAft>
                <a:spcPts val="369"/>
              </a:spcAft>
            </a:pPr>
            <a:r>
              <a:rPr kumimoji="1" lang="ja-JP" altLang="en-US" sz="1292" dirty="0">
                <a:solidFill>
                  <a:srgbClr val="0F1C50"/>
                </a:solidFill>
                <a:latin typeface="+mn-ea"/>
              </a:rPr>
              <a:t>今後の事業拡大を見据えたサーバー増築を容易に実現。</a:t>
            </a:r>
            <a:endParaRPr kumimoji="1" lang="en-US" altLang="ja-JP" sz="1292" dirty="0">
              <a:solidFill>
                <a:srgbClr val="0F1C50"/>
              </a:solidFill>
              <a:latin typeface="+mn-ea"/>
            </a:endParaRPr>
          </a:p>
        </p:txBody>
      </p:sp>
      <p:pic>
        <p:nvPicPr>
          <p:cNvPr id="17" name="グラフィックス 16" descr="ハーベイ ボール 0% 単色塗りつぶし">
            <a:extLst>
              <a:ext uri="{FF2B5EF4-FFF2-40B4-BE49-F238E27FC236}">
                <a16:creationId xmlns:a16="http://schemas.microsoft.com/office/drawing/2014/main" id="{FF5D4CF0-06D2-3A95-D56E-5DEDF9F7E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4987" y="3622379"/>
            <a:ext cx="398769" cy="398769"/>
          </a:xfrm>
          <a:prstGeom prst="rect">
            <a:avLst/>
          </a:prstGeom>
        </p:spPr>
      </p:pic>
      <p:pic>
        <p:nvPicPr>
          <p:cNvPr id="18" name="グラフィックス 17" descr="ハーベイ ボール 0% 単色塗りつぶし">
            <a:extLst>
              <a:ext uri="{FF2B5EF4-FFF2-40B4-BE49-F238E27FC236}">
                <a16:creationId xmlns:a16="http://schemas.microsoft.com/office/drawing/2014/main" id="{AB464ADF-1660-557D-93B4-A73F0AD1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4987" y="4259044"/>
            <a:ext cx="398769" cy="398769"/>
          </a:xfrm>
          <a:prstGeom prst="rect">
            <a:avLst/>
          </a:prstGeom>
        </p:spPr>
      </p:pic>
      <p:pic>
        <p:nvPicPr>
          <p:cNvPr id="19" name="グラフィックス 18" descr="ハーベイ ボール 0% 単色塗りつぶし">
            <a:extLst>
              <a:ext uri="{FF2B5EF4-FFF2-40B4-BE49-F238E27FC236}">
                <a16:creationId xmlns:a16="http://schemas.microsoft.com/office/drawing/2014/main" id="{2A2E0E59-506E-F396-5341-AA1D1A6D2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4987" y="4921315"/>
            <a:ext cx="398769" cy="39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95731"/>
      </p:ext>
    </p:extLst>
  </p:cSld>
  <p:clrMapOvr>
    <a:masterClrMapping/>
  </p:clrMapOvr>
</p:sld>
</file>

<file path=ppt/theme/theme1.xml><?xml version="1.0" encoding="utf-8"?>
<a:theme xmlns:a="http://schemas.openxmlformats.org/drawingml/2006/main" name="SAIRU-PPTtemplate">
  <a:themeElements>
    <a:clrScheme name="SAIRU Thema 2020">
      <a:dk1>
        <a:srgbClr val="1B224C"/>
      </a:dk1>
      <a:lt1>
        <a:srgbClr val="FFFFFF"/>
      </a:lt1>
      <a:dk2>
        <a:srgbClr val="1B224C"/>
      </a:dk2>
      <a:lt2>
        <a:srgbClr val="FFFFFF"/>
      </a:lt2>
      <a:accent1>
        <a:srgbClr val="1B224C"/>
      </a:accent1>
      <a:accent2>
        <a:srgbClr val="AA312D"/>
      </a:accent2>
      <a:accent3>
        <a:srgbClr val="AFAFAF"/>
      </a:accent3>
      <a:accent4>
        <a:srgbClr val="141400"/>
      </a:accent4>
      <a:accent5>
        <a:srgbClr val="00A9EF"/>
      </a:accent5>
      <a:accent6>
        <a:srgbClr val="00ACBA"/>
      </a:accent6>
      <a:hlink>
        <a:srgbClr val="00ACBA"/>
      </a:hlink>
      <a:folHlink>
        <a:srgbClr val="00ACBA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RU-PPTtemplate" id="{9FAC18D9-4216-104F-9E69-B7FBC5CDD02B}" vid="{902B8916-3016-1D46-8D3E-61BF212B686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SAIRU-PPTtemplate</Template>
  <TotalTime>419</TotalTime>
  <Words>1166</Words>
  <Application>Microsoft Office PowerPoint</Application>
  <PresentationFormat>画面に合わせる (4:3)</PresentationFormat>
  <Paragraphs>154</Paragraphs>
  <Slides>10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Yu Gothic</vt:lpstr>
      <vt:lpstr>Yu Gothic</vt:lpstr>
      <vt:lpstr>Arial</vt:lpstr>
      <vt:lpstr>Wingdings</vt:lpstr>
      <vt:lpstr>SAIRU-PPTtemplate</vt:lpstr>
      <vt:lpstr>PowerPoint プレゼンテーション</vt:lpstr>
      <vt:lpstr>解決できる課題</vt:lpstr>
      <vt:lpstr>クラウド化</vt:lpstr>
      <vt:lpstr>成功のポイント</vt:lpstr>
      <vt:lpstr>ご提案サーバー</vt:lpstr>
      <vt:lpstr>課題解決ポイント</vt:lpstr>
      <vt:lpstr>実施事項（機能）一覧</vt:lpstr>
      <vt:lpstr>実施事項（機能）一覧</vt:lpstr>
      <vt:lpstr>お見積り</vt:lpstr>
      <vt:lpstr>構成におけるより詳細な設定内容は以下の資料をご確認ください。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mayum</dc:creator>
  <cp:keywords/>
  <dc:description/>
  <cp:lastModifiedBy>真弓 安ヵ川</cp:lastModifiedBy>
  <cp:revision>35</cp:revision>
  <dcterms:created xsi:type="dcterms:W3CDTF">2022-07-07T07:20:19Z</dcterms:created>
  <dcterms:modified xsi:type="dcterms:W3CDTF">2025-12-18T06:48:49Z</dcterms:modified>
  <cp:category/>
</cp:coreProperties>
</file>